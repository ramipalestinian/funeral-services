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1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 type="wide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Master" Target="slideMasters/slideMaster1.xml"/><Relationship Id="rId22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522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520000" cy="6858000"/>
          </a:xfrm>
          <a:prstGeom prst="rect">
            <a:avLst/>
          </a:prstGeom>
          <a:solidFill>
            <a:srgbClr val="C9A45C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620000" y="540000"/>
            <a:ext cx="2100000" cy="420000"/>
          </a:xfrm>
          <a:prstGeom prst="roundRect">
            <a:avLst/>
          </a:prstGeom>
          <a:solidFill>
            <a:srgbClr val="7C6A46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60000" y="650000"/>
            <a:ext cx="18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250" b="1">
                <a:solidFill>
                  <a:srgbClr val="F8FAFC"/>
                </a:solidFill>
                <a:latin typeface="Aptos"/>
                <a:cs typeface="Aptos"/>
              </a:rPr>
              <a:t>ПРОЕКТ</a:t>
            </a:r>
            <a:endParaRPr lang="ru-RU" sz="1250"/>
          </a:p>
        </p:txBody>
      </p:sp>
      <p:sp>
        <p:nvSpPr>
          <p:cNvPr id="6" name="TextBox 6"/>
          <p:cNvSpPr txBox="1"/>
          <p:nvPr/>
        </p:nvSpPr>
        <p:spPr>
          <a:xfrm>
            <a:off x="610000" y="1200000"/>
            <a:ext cx="77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4300" b="1">
                <a:solidFill>
                  <a:srgbClr val="F8FAFC"/>
                </a:solidFill>
                <a:latin typeface="Aptos"/>
                <a:cs typeface="Aptos"/>
              </a:rPr>
              <a:t>GRUZ 200</a:t>
            </a:r>
            <a:endParaRPr lang="ru-RU" sz="4300"/>
          </a:p>
        </p:txBody>
      </p:sp>
      <p:sp>
        <p:nvSpPr>
          <p:cNvPr id="7" name="TextBox 7"/>
          <p:cNvSpPr txBox="1"/>
          <p:nvPr/>
        </p:nvSpPr>
        <p:spPr>
          <a:xfrm>
            <a:off x="620000" y="2050000"/>
            <a:ext cx="8300000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850" b="0">
                <a:solidFill>
                  <a:srgbClr val="CBD5E1"/>
                </a:solidFill>
                <a:latin typeface="Aptos"/>
                <a:cs typeface="Aptos"/>
              </a:rPr>
              <a:t>Веб-сервис ритуальных услуг и поддержки семьи в трудный момент</a:t>
            </a:r>
            <a:endParaRPr lang="ru-RU" sz="1850"/>
          </a:p>
        </p:txBody>
      </p:sp>
      <p:sp>
        <p:nvSpPr>
          <p:cNvPr id="8" name="Shape 8"/>
          <p:cNvSpPr/>
          <p:nvPr/>
        </p:nvSpPr>
        <p:spPr>
          <a:xfrm>
            <a:off x="9300000" y="720000"/>
            <a:ext cx="2300000" cy="5140000"/>
          </a:xfrm>
          <a:prstGeom prst="roundRect">
            <a:avLst/>
          </a:prstGeom>
          <a:solidFill>
            <a:srgbClr val="172033"/>
          </a:solidFill>
          <a:ln>
            <a:solidFill>
              <a:srgbClr val="7C6A46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9680000" y="1040000"/>
            <a:ext cx="16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2100" b="1">
                <a:solidFill>
                  <a:srgbClr val="C9A45C"/>
                </a:solidFill>
                <a:latin typeface="Aptos"/>
                <a:cs typeface="Aptos"/>
              </a:rPr>
              <a:t>01 / 20</a:t>
            </a:r>
            <a:endParaRPr lang="ru-RU" sz="2100"/>
          </a:p>
        </p:txBody>
      </p:sp>
      <p:sp>
        <p:nvSpPr>
          <p:cNvPr id="10" name="Shape 10"/>
          <p:cNvSpPr/>
          <p:nvPr/>
        </p:nvSpPr>
        <p:spPr>
          <a:xfrm>
            <a:off x="9780000" y="1570000"/>
            <a:ext cx="1340000" cy="22000"/>
          </a:xfrm>
          <a:prstGeom prst="rect">
            <a:avLst/>
          </a:prstGeom>
          <a:solidFill>
            <a:srgbClr val="C9A45C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9650000" y="1980000"/>
            <a:ext cx="17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2000" b="1">
                <a:solidFill>
                  <a:srgbClr val="F8FAFC"/>
                </a:solidFill>
                <a:latin typeface="Aptos"/>
                <a:cs typeface="Aptos"/>
              </a:rPr>
              <a:t>Next.js
NestJS
PostgreSQL
GigaChat</a:t>
            </a:r>
            <a:endParaRPr lang="ru-RU" sz="2000"/>
          </a:p>
        </p:txBody>
      </p:sp>
      <p:sp>
        <p:nvSpPr>
          <p:cNvPr id="70" name="TextBox 70"/>
          <p:cNvSpPr txBox="1"/>
          <p:nvPr/>
        </p:nvSpPr>
        <p:spPr>
          <a:xfrm>
            <a:off x="850000" y="3180000"/>
            <a:ext cx="7700000" cy="2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20 слайдов о продукте, архитектуре и ключевых возможностях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Проект: funeral-services</a:t>
            </a:r>
            <a:endParaRPr lang="ru-RU" sz="1780"/>
          </a:p>
        </p:txBody>
      </p:sp>
      <p:sp>
        <p:nvSpPr>
          <p:cNvPr id="80" name="Shape 80"/>
          <p:cNvSpPr/>
          <p:nvPr/>
        </p:nvSpPr>
        <p:spPr>
          <a:xfrm>
            <a:off x="760000" y="5890000"/>
            <a:ext cx="3500000" cy="450000"/>
          </a:xfrm>
          <a:prstGeom prst="roundRect">
            <a:avLst/>
          </a:prstGeom>
          <a:solidFill>
            <a:srgbClr val="C9A45C"/>
          </a:solidFill>
          <a:ln>
            <a:noFill/>
          </a:ln>
        </p:spPr>
      </p:sp>
      <p:sp>
        <p:nvSpPr>
          <p:cNvPr id="81" name="TextBox 81"/>
          <p:cNvSpPr txBox="1"/>
          <p:nvPr/>
        </p:nvSpPr>
        <p:spPr>
          <a:xfrm>
            <a:off x="950000" y="6010000"/>
            <a:ext cx="312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500" b="1">
                <a:solidFill>
                  <a:srgbClr val="0B1120"/>
                </a:solidFill>
                <a:latin typeface="Aptos"/>
                <a:cs typeface="Aptos"/>
              </a:rPr>
              <a:t>Final project presentation</a:t>
            </a:r>
            <a:endParaRPr lang="ru-RU" sz="1500"/>
          </a:p>
        </p:txBody>
      </p:sp>
      <p:sp>
        <p:nvSpPr>
          <p:cNvPr id="90" name="TextBox 90"/>
          <p:cNvSpPr txBox="1"/>
          <p:nvPr/>
        </p:nvSpPr>
        <p:spPr>
          <a:xfrm>
            <a:off x="615000" y="6500000"/>
            <a:ext cx="500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50" b="0">
                <a:solidFill>
                  <a:srgbClr val="94A3B8"/>
                </a:solidFill>
                <a:latin typeface="Aptos"/>
                <a:cs typeface="Aptos"/>
              </a:rPr>
              <a:t>GRUZ 200 | funeral-services</a:t>
            </a:r>
            <a:endParaRPr lang="ru-RU" sz="10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522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520000" cy="6858000"/>
          </a:xfrm>
          <a:prstGeom prst="rect">
            <a:avLst/>
          </a:prstGeom>
          <a:solidFill>
            <a:srgbClr val="C9A45C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620000" y="540000"/>
            <a:ext cx="2100000" cy="420000"/>
          </a:xfrm>
          <a:prstGeom prst="roundRect">
            <a:avLst/>
          </a:prstGeom>
          <a:solidFill>
            <a:srgbClr val="7C6A46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60000" y="650000"/>
            <a:ext cx="18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250" b="1">
                <a:solidFill>
                  <a:srgbClr val="F8FAFC"/>
                </a:solidFill>
                <a:latin typeface="Aptos"/>
                <a:cs typeface="Aptos"/>
              </a:rPr>
              <a:t>ИДЕЯ</a:t>
            </a:r>
            <a:endParaRPr lang="ru-RU" sz="1250"/>
          </a:p>
        </p:txBody>
      </p:sp>
      <p:sp>
        <p:nvSpPr>
          <p:cNvPr id="6" name="TextBox 6"/>
          <p:cNvSpPr txBox="1"/>
          <p:nvPr/>
        </p:nvSpPr>
        <p:spPr>
          <a:xfrm>
            <a:off x="610000" y="1200000"/>
            <a:ext cx="77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600" b="1">
                <a:solidFill>
                  <a:srgbClr val="F8FAFC"/>
                </a:solidFill>
                <a:latin typeface="Aptos"/>
                <a:cs typeface="Aptos"/>
              </a:rPr>
              <a:t>Что решает проект</a:t>
            </a:r>
            <a:endParaRPr lang="ru-RU" sz="3600"/>
          </a:p>
        </p:txBody>
      </p:sp>
      <p:sp>
        <p:nvSpPr>
          <p:cNvPr id="7" name="TextBox 7"/>
          <p:cNvSpPr txBox="1"/>
          <p:nvPr/>
        </p:nvSpPr>
        <p:spPr>
          <a:xfrm>
            <a:off x="620000" y="2050000"/>
            <a:ext cx="8300000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850" b="0">
                <a:solidFill>
                  <a:srgbClr val="CBD5E1"/>
                </a:solidFill>
                <a:latin typeface="Aptos"/>
                <a:cs typeface="Aptos"/>
              </a:rPr>
              <a:t>Сервис помогает быстро сориентироваться, выбрать услугу и получить поддержку без лишней суеты.</a:t>
            </a:r>
            <a:endParaRPr lang="ru-RU" sz="1850"/>
          </a:p>
        </p:txBody>
      </p:sp>
      <p:sp>
        <p:nvSpPr>
          <p:cNvPr id="8" name="Shape 8"/>
          <p:cNvSpPr/>
          <p:nvPr/>
        </p:nvSpPr>
        <p:spPr>
          <a:xfrm>
            <a:off x="9300000" y="720000"/>
            <a:ext cx="2300000" cy="5140000"/>
          </a:xfrm>
          <a:prstGeom prst="roundRect">
            <a:avLst/>
          </a:prstGeom>
          <a:solidFill>
            <a:srgbClr val="172033"/>
          </a:solidFill>
          <a:ln>
            <a:solidFill>
              <a:srgbClr val="7C6A46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9680000" y="1040000"/>
            <a:ext cx="16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2100" b="1">
                <a:solidFill>
                  <a:srgbClr val="C9A45C"/>
                </a:solidFill>
                <a:latin typeface="Aptos"/>
                <a:cs typeface="Aptos"/>
              </a:rPr>
              <a:t>02 / 20</a:t>
            </a:r>
            <a:endParaRPr lang="ru-RU" sz="2100"/>
          </a:p>
        </p:txBody>
      </p:sp>
      <p:sp>
        <p:nvSpPr>
          <p:cNvPr id="10" name="Shape 10"/>
          <p:cNvSpPr/>
          <p:nvPr/>
        </p:nvSpPr>
        <p:spPr>
          <a:xfrm>
            <a:off x="9780000" y="1570000"/>
            <a:ext cx="1340000" cy="22000"/>
          </a:xfrm>
          <a:prstGeom prst="rect">
            <a:avLst/>
          </a:prstGeom>
          <a:solidFill>
            <a:srgbClr val="C9A45C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660000" y="192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9A45C"/>
                </a:solidFill>
                <a:latin typeface="Aptos"/>
                <a:cs typeface="Aptos"/>
              </a:rPr>
              <a:t>24/7</a:t>
            </a:r>
            <a:endParaRPr lang="ru-RU" sz="1750"/>
          </a:p>
        </p:txBody>
      </p:sp>
      <p:sp>
        <p:nvSpPr>
          <p:cNvPr id="21" name="TextBox 21"/>
          <p:cNvSpPr txBox="1"/>
          <p:nvPr/>
        </p:nvSpPr>
        <p:spPr>
          <a:xfrm>
            <a:off x="9660000" y="246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BD5E1"/>
                </a:solidFill>
                <a:latin typeface="Aptos"/>
                <a:cs typeface="Aptos"/>
              </a:rPr>
              <a:t>каталог</a:t>
            </a:r>
            <a:endParaRPr lang="ru-RU" sz="1750"/>
          </a:p>
        </p:txBody>
      </p:sp>
      <p:sp>
        <p:nvSpPr>
          <p:cNvPr id="22" name="TextBox 22"/>
          <p:cNvSpPr txBox="1"/>
          <p:nvPr/>
        </p:nvSpPr>
        <p:spPr>
          <a:xfrm>
            <a:off x="9660000" y="300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9A45C"/>
                </a:solidFill>
                <a:latin typeface="Aptos"/>
                <a:cs typeface="Aptos"/>
              </a:rPr>
              <a:t>корзина</a:t>
            </a:r>
            <a:endParaRPr lang="ru-RU" sz="1750"/>
          </a:p>
        </p:txBody>
      </p:sp>
      <p:sp>
        <p:nvSpPr>
          <p:cNvPr id="23" name="TextBox 23"/>
          <p:cNvSpPr txBox="1"/>
          <p:nvPr/>
        </p:nvSpPr>
        <p:spPr>
          <a:xfrm>
            <a:off x="9660000" y="354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BD5E1"/>
                </a:solidFill>
                <a:latin typeface="Aptos"/>
                <a:cs typeface="Aptos"/>
              </a:rPr>
              <a:t>AI</a:t>
            </a:r>
            <a:endParaRPr lang="ru-RU" sz="1750"/>
          </a:p>
        </p:txBody>
      </p:sp>
      <p:sp>
        <p:nvSpPr>
          <p:cNvPr id="24" name="TextBox 24"/>
          <p:cNvSpPr txBox="1"/>
          <p:nvPr/>
        </p:nvSpPr>
        <p:spPr>
          <a:xfrm>
            <a:off x="9660000" y="408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9A45C"/>
                </a:solidFill>
                <a:latin typeface="Aptos"/>
                <a:cs typeface="Aptos"/>
              </a:rPr>
              <a:t>кабинет</a:t>
            </a:r>
            <a:endParaRPr lang="ru-RU" sz="1750"/>
          </a:p>
        </p:txBody>
      </p:sp>
      <p:sp>
        <p:nvSpPr>
          <p:cNvPr id="70" name="TextBox 70"/>
          <p:cNvSpPr txBox="1"/>
          <p:nvPr/>
        </p:nvSpPr>
        <p:spPr>
          <a:xfrm>
            <a:off x="850000" y="3180000"/>
            <a:ext cx="7700000" cy="2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Собирает услуги в понятный каталог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Ведёт пользователя от регистрации до оформления заказа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Даёт круглосуточный канал связи и AI-консультацию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Сохраняет спокойный и деликатный тон коммуникации</a:t>
            </a:r>
            <a:endParaRPr lang="ru-RU" sz="1780"/>
          </a:p>
        </p:txBody>
      </p:sp>
      <p:sp>
        <p:nvSpPr>
          <p:cNvPr id="90" name="TextBox 90"/>
          <p:cNvSpPr txBox="1"/>
          <p:nvPr/>
        </p:nvSpPr>
        <p:spPr>
          <a:xfrm>
            <a:off x="615000" y="6500000"/>
            <a:ext cx="500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50" b="0">
                <a:solidFill>
                  <a:srgbClr val="94A3B8"/>
                </a:solidFill>
                <a:latin typeface="Aptos"/>
                <a:cs typeface="Aptos"/>
              </a:rPr>
              <a:t>GRUZ 200 | funeral-services</a:t>
            </a:r>
            <a:endParaRPr lang="ru-RU" sz="10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522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520000" cy="6858000"/>
          </a:xfrm>
          <a:prstGeom prst="rect">
            <a:avLst/>
          </a:prstGeom>
          <a:solidFill>
            <a:srgbClr val="C9A45C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620000" y="540000"/>
            <a:ext cx="2100000" cy="420000"/>
          </a:xfrm>
          <a:prstGeom prst="roundRect">
            <a:avLst/>
          </a:prstGeom>
          <a:solidFill>
            <a:srgbClr val="7C6A46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60000" y="650000"/>
            <a:ext cx="18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250" b="1">
                <a:solidFill>
                  <a:srgbClr val="F8FAFC"/>
                </a:solidFill>
                <a:latin typeface="Aptos"/>
                <a:cs typeface="Aptos"/>
              </a:rPr>
              <a:t>АУДИТОРИЯ</a:t>
            </a:r>
            <a:endParaRPr lang="ru-RU" sz="1250"/>
          </a:p>
        </p:txBody>
      </p:sp>
      <p:sp>
        <p:nvSpPr>
          <p:cNvPr id="6" name="TextBox 6"/>
          <p:cNvSpPr txBox="1"/>
          <p:nvPr/>
        </p:nvSpPr>
        <p:spPr>
          <a:xfrm>
            <a:off x="610000" y="1200000"/>
            <a:ext cx="77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600" b="1">
                <a:solidFill>
                  <a:srgbClr val="F8FAFC"/>
                </a:solidFill>
                <a:latin typeface="Aptos"/>
                <a:cs typeface="Aptos"/>
              </a:rPr>
              <a:t>Для кого создан сервис</a:t>
            </a:r>
            <a:endParaRPr lang="ru-RU" sz="3600"/>
          </a:p>
        </p:txBody>
      </p:sp>
      <p:sp>
        <p:nvSpPr>
          <p:cNvPr id="7" name="TextBox 7"/>
          <p:cNvSpPr txBox="1"/>
          <p:nvPr/>
        </p:nvSpPr>
        <p:spPr>
          <a:xfrm>
            <a:off x="620000" y="2050000"/>
            <a:ext cx="8300000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850" b="0">
                <a:solidFill>
                  <a:srgbClr val="CBD5E1"/>
                </a:solidFill>
                <a:latin typeface="Aptos"/>
                <a:cs typeface="Aptos"/>
              </a:rPr>
              <a:t>Основной сценарий: человеку нужна срочная организация похорон или консультация по дальнейшим шагам.</a:t>
            </a:r>
            <a:endParaRPr lang="ru-RU" sz="1850"/>
          </a:p>
        </p:txBody>
      </p:sp>
      <p:sp>
        <p:nvSpPr>
          <p:cNvPr id="8" name="Shape 8"/>
          <p:cNvSpPr/>
          <p:nvPr/>
        </p:nvSpPr>
        <p:spPr>
          <a:xfrm>
            <a:off x="9300000" y="720000"/>
            <a:ext cx="2300000" cy="5140000"/>
          </a:xfrm>
          <a:prstGeom prst="roundRect">
            <a:avLst/>
          </a:prstGeom>
          <a:solidFill>
            <a:srgbClr val="172033"/>
          </a:solidFill>
          <a:ln>
            <a:solidFill>
              <a:srgbClr val="7C6A46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9680000" y="1040000"/>
            <a:ext cx="16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2100" b="1">
                <a:solidFill>
                  <a:srgbClr val="C9A45C"/>
                </a:solidFill>
                <a:latin typeface="Aptos"/>
                <a:cs typeface="Aptos"/>
              </a:rPr>
              <a:t>03 / 20</a:t>
            </a:r>
            <a:endParaRPr lang="ru-RU" sz="2100"/>
          </a:p>
        </p:txBody>
      </p:sp>
      <p:sp>
        <p:nvSpPr>
          <p:cNvPr id="10" name="Shape 10"/>
          <p:cNvSpPr/>
          <p:nvPr/>
        </p:nvSpPr>
        <p:spPr>
          <a:xfrm>
            <a:off x="9780000" y="1570000"/>
            <a:ext cx="1340000" cy="22000"/>
          </a:xfrm>
          <a:prstGeom prst="rect">
            <a:avLst/>
          </a:prstGeom>
          <a:solidFill>
            <a:srgbClr val="C9A45C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660000" y="192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9A45C"/>
                </a:solidFill>
                <a:latin typeface="Aptos"/>
                <a:cs typeface="Aptos"/>
              </a:rPr>
              <a:t>24/7</a:t>
            </a:r>
            <a:endParaRPr lang="ru-RU" sz="1750"/>
          </a:p>
        </p:txBody>
      </p:sp>
      <p:sp>
        <p:nvSpPr>
          <p:cNvPr id="21" name="TextBox 21"/>
          <p:cNvSpPr txBox="1"/>
          <p:nvPr/>
        </p:nvSpPr>
        <p:spPr>
          <a:xfrm>
            <a:off x="9660000" y="246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BD5E1"/>
                </a:solidFill>
                <a:latin typeface="Aptos"/>
                <a:cs typeface="Aptos"/>
              </a:rPr>
              <a:t>каталог</a:t>
            </a:r>
            <a:endParaRPr lang="ru-RU" sz="1750"/>
          </a:p>
        </p:txBody>
      </p:sp>
      <p:sp>
        <p:nvSpPr>
          <p:cNvPr id="22" name="TextBox 22"/>
          <p:cNvSpPr txBox="1"/>
          <p:nvPr/>
        </p:nvSpPr>
        <p:spPr>
          <a:xfrm>
            <a:off x="9660000" y="300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9A45C"/>
                </a:solidFill>
                <a:latin typeface="Aptos"/>
                <a:cs typeface="Aptos"/>
              </a:rPr>
              <a:t>корзина</a:t>
            </a:r>
            <a:endParaRPr lang="ru-RU" sz="1750"/>
          </a:p>
        </p:txBody>
      </p:sp>
      <p:sp>
        <p:nvSpPr>
          <p:cNvPr id="23" name="TextBox 23"/>
          <p:cNvSpPr txBox="1"/>
          <p:nvPr/>
        </p:nvSpPr>
        <p:spPr>
          <a:xfrm>
            <a:off x="9660000" y="354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BD5E1"/>
                </a:solidFill>
                <a:latin typeface="Aptos"/>
                <a:cs typeface="Aptos"/>
              </a:rPr>
              <a:t>AI</a:t>
            </a:r>
            <a:endParaRPr lang="ru-RU" sz="1750"/>
          </a:p>
        </p:txBody>
      </p:sp>
      <p:sp>
        <p:nvSpPr>
          <p:cNvPr id="24" name="TextBox 24"/>
          <p:cNvSpPr txBox="1"/>
          <p:nvPr/>
        </p:nvSpPr>
        <p:spPr>
          <a:xfrm>
            <a:off x="9660000" y="408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9A45C"/>
                </a:solidFill>
                <a:latin typeface="Aptos"/>
                <a:cs typeface="Aptos"/>
              </a:rPr>
              <a:t>кабинет</a:t>
            </a:r>
            <a:endParaRPr lang="ru-RU" sz="1750"/>
          </a:p>
        </p:txBody>
      </p:sp>
      <p:sp>
        <p:nvSpPr>
          <p:cNvPr id="70" name="TextBox 70"/>
          <p:cNvSpPr txBox="1"/>
          <p:nvPr/>
        </p:nvSpPr>
        <p:spPr>
          <a:xfrm>
            <a:off x="850000" y="3180000"/>
            <a:ext cx="7700000" cy="2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Родственники, которым нужна помощь 24/7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Пользователи, выбирающие формат церемонии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Люди, которым важно понимать стоимость заранее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Клиенты, предпочитающие онлайн-оформление и личный кабинет</a:t>
            </a:r>
            <a:endParaRPr lang="ru-RU" sz="1780"/>
          </a:p>
        </p:txBody>
      </p:sp>
      <p:sp>
        <p:nvSpPr>
          <p:cNvPr id="90" name="TextBox 90"/>
          <p:cNvSpPr txBox="1"/>
          <p:nvPr/>
        </p:nvSpPr>
        <p:spPr>
          <a:xfrm>
            <a:off x="615000" y="6500000"/>
            <a:ext cx="500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50" b="0">
                <a:solidFill>
                  <a:srgbClr val="94A3B8"/>
                </a:solidFill>
                <a:latin typeface="Aptos"/>
                <a:cs typeface="Aptos"/>
              </a:rPr>
              <a:t>GRUZ 200 | funeral-services</a:t>
            </a:r>
            <a:endParaRPr lang="ru-RU" sz="10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522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520000" cy="6858000"/>
          </a:xfrm>
          <a:prstGeom prst="rect">
            <a:avLst/>
          </a:prstGeom>
          <a:solidFill>
            <a:srgbClr val="C9A45C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620000" y="540000"/>
            <a:ext cx="2100000" cy="420000"/>
          </a:xfrm>
          <a:prstGeom prst="roundRect">
            <a:avLst/>
          </a:prstGeom>
          <a:solidFill>
            <a:srgbClr val="7C6A46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60000" y="650000"/>
            <a:ext cx="18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250" b="1">
                <a:solidFill>
                  <a:srgbClr val="F8FAFC"/>
                </a:solidFill>
                <a:latin typeface="Aptos"/>
                <a:cs typeface="Aptos"/>
              </a:rPr>
              <a:t>ЦЕННОСТЬ</a:t>
            </a:r>
            <a:endParaRPr lang="ru-RU" sz="1250"/>
          </a:p>
        </p:txBody>
      </p:sp>
      <p:sp>
        <p:nvSpPr>
          <p:cNvPr id="6" name="TextBox 6"/>
          <p:cNvSpPr txBox="1"/>
          <p:nvPr/>
        </p:nvSpPr>
        <p:spPr>
          <a:xfrm>
            <a:off x="610000" y="1200000"/>
            <a:ext cx="77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600" b="1">
                <a:solidFill>
                  <a:srgbClr val="F8FAFC"/>
                </a:solidFill>
                <a:latin typeface="Aptos"/>
                <a:cs typeface="Aptos"/>
              </a:rPr>
              <a:t>Ключевое предложение</a:t>
            </a:r>
            <a:endParaRPr lang="ru-RU" sz="3600"/>
          </a:p>
        </p:txBody>
      </p:sp>
      <p:sp>
        <p:nvSpPr>
          <p:cNvPr id="7" name="TextBox 7"/>
          <p:cNvSpPr txBox="1"/>
          <p:nvPr/>
        </p:nvSpPr>
        <p:spPr>
          <a:xfrm>
            <a:off x="620000" y="2050000"/>
            <a:ext cx="8300000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850" b="0">
                <a:solidFill>
                  <a:srgbClr val="CBD5E1"/>
                </a:solidFill>
                <a:latin typeface="Aptos"/>
                <a:cs typeface="Aptos"/>
              </a:rPr>
              <a:t>«Прощаем с заботой, тишиной и уважением» — главная интонация продукта.</a:t>
            </a:r>
            <a:endParaRPr lang="ru-RU" sz="1850"/>
          </a:p>
        </p:txBody>
      </p:sp>
      <p:sp>
        <p:nvSpPr>
          <p:cNvPr id="8" name="Shape 8"/>
          <p:cNvSpPr/>
          <p:nvPr/>
        </p:nvSpPr>
        <p:spPr>
          <a:xfrm>
            <a:off x="9300000" y="720000"/>
            <a:ext cx="2300000" cy="5140000"/>
          </a:xfrm>
          <a:prstGeom prst="roundRect">
            <a:avLst/>
          </a:prstGeom>
          <a:solidFill>
            <a:srgbClr val="172033"/>
          </a:solidFill>
          <a:ln>
            <a:solidFill>
              <a:srgbClr val="7C6A46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9680000" y="1040000"/>
            <a:ext cx="16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2100" b="1">
                <a:solidFill>
                  <a:srgbClr val="C9A45C"/>
                </a:solidFill>
                <a:latin typeface="Aptos"/>
                <a:cs typeface="Aptos"/>
              </a:rPr>
              <a:t>04 / 20</a:t>
            </a:r>
            <a:endParaRPr lang="ru-RU" sz="2100"/>
          </a:p>
        </p:txBody>
      </p:sp>
      <p:sp>
        <p:nvSpPr>
          <p:cNvPr id="10" name="Shape 10"/>
          <p:cNvSpPr/>
          <p:nvPr/>
        </p:nvSpPr>
        <p:spPr>
          <a:xfrm>
            <a:off x="9780000" y="1570000"/>
            <a:ext cx="1340000" cy="22000"/>
          </a:xfrm>
          <a:prstGeom prst="rect">
            <a:avLst/>
          </a:prstGeom>
          <a:solidFill>
            <a:srgbClr val="C9A45C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660000" y="192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9A45C"/>
                </a:solidFill>
                <a:latin typeface="Aptos"/>
                <a:cs typeface="Aptos"/>
              </a:rPr>
              <a:t>24/7</a:t>
            </a:r>
            <a:endParaRPr lang="ru-RU" sz="1750"/>
          </a:p>
        </p:txBody>
      </p:sp>
      <p:sp>
        <p:nvSpPr>
          <p:cNvPr id="21" name="TextBox 21"/>
          <p:cNvSpPr txBox="1"/>
          <p:nvPr/>
        </p:nvSpPr>
        <p:spPr>
          <a:xfrm>
            <a:off x="9660000" y="246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BD5E1"/>
                </a:solidFill>
                <a:latin typeface="Aptos"/>
                <a:cs typeface="Aptos"/>
              </a:rPr>
              <a:t>каталог</a:t>
            </a:r>
            <a:endParaRPr lang="ru-RU" sz="1750"/>
          </a:p>
        </p:txBody>
      </p:sp>
      <p:sp>
        <p:nvSpPr>
          <p:cNvPr id="22" name="TextBox 22"/>
          <p:cNvSpPr txBox="1"/>
          <p:nvPr/>
        </p:nvSpPr>
        <p:spPr>
          <a:xfrm>
            <a:off x="9660000" y="300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9A45C"/>
                </a:solidFill>
                <a:latin typeface="Aptos"/>
                <a:cs typeface="Aptos"/>
              </a:rPr>
              <a:t>корзина</a:t>
            </a:r>
            <a:endParaRPr lang="ru-RU" sz="1750"/>
          </a:p>
        </p:txBody>
      </p:sp>
      <p:sp>
        <p:nvSpPr>
          <p:cNvPr id="23" name="TextBox 23"/>
          <p:cNvSpPr txBox="1"/>
          <p:nvPr/>
        </p:nvSpPr>
        <p:spPr>
          <a:xfrm>
            <a:off x="9660000" y="354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BD5E1"/>
                </a:solidFill>
                <a:latin typeface="Aptos"/>
                <a:cs typeface="Aptos"/>
              </a:rPr>
              <a:t>AI</a:t>
            </a:r>
            <a:endParaRPr lang="ru-RU" sz="1750"/>
          </a:p>
        </p:txBody>
      </p:sp>
      <p:sp>
        <p:nvSpPr>
          <p:cNvPr id="24" name="TextBox 24"/>
          <p:cNvSpPr txBox="1"/>
          <p:nvPr/>
        </p:nvSpPr>
        <p:spPr>
          <a:xfrm>
            <a:off x="9660000" y="408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9A45C"/>
                </a:solidFill>
                <a:latin typeface="Aptos"/>
                <a:cs typeface="Aptos"/>
              </a:rPr>
              <a:t>кабинет</a:t>
            </a:r>
            <a:endParaRPr lang="ru-RU" sz="1750"/>
          </a:p>
        </p:txBody>
      </p:sp>
      <p:sp>
        <p:nvSpPr>
          <p:cNvPr id="70" name="TextBox 70"/>
          <p:cNvSpPr txBox="1"/>
          <p:nvPr/>
        </p:nvSpPr>
        <p:spPr>
          <a:xfrm>
            <a:off x="850000" y="3180000"/>
            <a:ext cx="7700000" cy="2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Полный цикл: документы, транспорт, церемония, товары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Прозрачные категории услуг и понятная навигация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Возможность собрать заказ в корзину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Контакты и экстренная связь вынесены в отдельный раздел</a:t>
            </a:r>
            <a:endParaRPr lang="ru-RU" sz="1780"/>
          </a:p>
        </p:txBody>
      </p:sp>
      <p:sp>
        <p:nvSpPr>
          <p:cNvPr id="90" name="TextBox 90"/>
          <p:cNvSpPr txBox="1"/>
          <p:nvPr/>
        </p:nvSpPr>
        <p:spPr>
          <a:xfrm>
            <a:off x="615000" y="6500000"/>
            <a:ext cx="500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50" b="0">
                <a:solidFill>
                  <a:srgbClr val="94A3B8"/>
                </a:solidFill>
                <a:latin typeface="Aptos"/>
                <a:cs typeface="Aptos"/>
              </a:rPr>
              <a:t>GRUZ 200 | funeral-services</a:t>
            </a:r>
            <a:endParaRPr lang="ru-RU" sz="10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522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520000" cy="6858000"/>
          </a:xfrm>
          <a:prstGeom prst="rect">
            <a:avLst/>
          </a:prstGeom>
          <a:solidFill>
            <a:srgbClr val="C9A45C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620000" y="540000"/>
            <a:ext cx="2100000" cy="420000"/>
          </a:xfrm>
          <a:prstGeom prst="roundRect">
            <a:avLst/>
          </a:prstGeom>
          <a:solidFill>
            <a:srgbClr val="7C6A46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60000" y="650000"/>
            <a:ext cx="18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250" b="1">
                <a:solidFill>
                  <a:srgbClr val="F8FAFC"/>
                </a:solidFill>
                <a:latin typeface="Aptos"/>
                <a:cs typeface="Aptos"/>
              </a:rPr>
              <a:t>ФУНКЦИИ</a:t>
            </a:r>
            <a:endParaRPr lang="ru-RU" sz="1250"/>
          </a:p>
        </p:txBody>
      </p:sp>
      <p:sp>
        <p:nvSpPr>
          <p:cNvPr id="6" name="TextBox 6"/>
          <p:cNvSpPr txBox="1"/>
          <p:nvPr/>
        </p:nvSpPr>
        <p:spPr>
          <a:xfrm>
            <a:off x="610000" y="1200000"/>
            <a:ext cx="77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600" b="1">
                <a:solidFill>
                  <a:srgbClr val="F8FAFC"/>
                </a:solidFill>
                <a:latin typeface="Aptos"/>
                <a:cs typeface="Aptos"/>
              </a:rPr>
              <a:t>Основные разделы приложения</a:t>
            </a:r>
            <a:endParaRPr lang="ru-RU" sz="3600"/>
          </a:p>
        </p:txBody>
      </p:sp>
      <p:sp>
        <p:nvSpPr>
          <p:cNvPr id="7" name="TextBox 7"/>
          <p:cNvSpPr txBox="1"/>
          <p:nvPr/>
        </p:nvSpPr>
        <p:spPr>
          <a:xfrm>
            <a:off x="620000" y="2050000"/>
            <a:ext cx="8300000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850" b="0">
                <a:solidFill>
                  <a:srgbClr val="CBD5E1"/>
                </a:solidFill>
                <a:latin typeface="Aptos"/>
                <a:cs typeface="Aptos"/>
              </a:rPr>
              <a:t>Сервис построен вокруг нескольких пользовательских зон.</a:t>
            </a:r>
            <a:endParaRPr lang="ru-RU" sz="1850"/>
          </a:p>
        </p:txBody>
      </p:sp>
      <p:sp>
        <p:nvSpPr>
          <p:cNvPr id="8" name="Shape 8"/>
          <p:cNvSpPr/>
          <p:nvPr/>
        </p:nvSpPr>
        <p:spPr>
          <a:xfrm>
            <a:off x="9300000" y="720000"/>
            <a:ext cx="2300000" cy="5140000"/>
          </a:xfrm>
          <a:prstGeom prst="roundRect">
            <a:avLst/>
          </a:prstGeom>
          <a:solidFill>
            <a:srgbClr val="172033"/>
          </a:solidFill>
          <a:ln>
            <a:solidFill>
              <a:srgbClr val="7C6A46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9680000" y="1040000"/>
            <a:ext cx="16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2100" b="1">
                <a:solidFill>
                  <a:srgbClr val="C9A45C"/>
                </a:solidFill>
                <a:latin typeface="Aptos"/>
                <a:cs typeface="Aptos"/>
              </a:rPr>
              <a:t>05 / 20</a:t>
            </a:r>
            <a:endParaRPr lang="ru-RU" sz="2100"/>
          </a:p>
        </p:txBody>
      </p:sp>
      <p:sp>
        <p:nvSpPr>
          <p:cNvPr id="10" name="Shape 10"/>
          <p:cNvSpPr/>
          <p:nvPr/>
        </p:nvSpPr>
        <p:spPr>
          <a:xfrm>
            <a:off x="9780000" y="1570000"/>
            <a:ext cx="1340000" cy="22000"/>
          </a:xfrm>
          <a:prstGeom prst="rect">
            <a:avLst/>
          </a:prstGeom>
          <a:solidFill>
            <a:srgbClr val="C9A45C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660000" y="192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9A45C"/>
                </a:solidFill>
                <a:latin typeface="Aptos"/>
                <a:cs typeface="Aptos"/>
              </a:rPr>
              <a:t>24/7</a:t>
            </a:r>
            <a:endParaRPr lang="ru-RU" sz="1750"/>
          </a:p>
        </p:txBody>
      </p:sp>
      <p:sp>
        <p:nvSpPr>
          <p:cNvPr id="21" name="TextBox 21"/>
          <p:cNvSpPr txBox="1"/>
          <p:nvPr/>
        </p:nvSpPr>
        <p:spPr>
          <a:xfrm>
            <a:off x="9660000" y="246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BD5E1"/>
                </a:solidFill>
                <a:latin typeface="Aptos"/>
                <a:cs typeface="Aptos"/>
              </a:rPr>
              <a:t>каталог</a:t>
            </a:r>
            <a:endParaRPr lang="ru-RU" sz="1750"/>
          </a:p>
        </p:txBody>
      </p:sp>
      <p:sp>
        <p:nvSpPr>
          <p:cNvPr id="22" name="TextBox 22"/>
          <p:cNvSpPr txBox="1"/>
          <p:nvPr/>
        </p:nvSpPr>
        <p:spPr>
          <a:xfrm>
            <a:off x="9660000" y="300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9A45C"/>
                </a:solidFill>
                <a:latin typeface="Aptos"/>
                <a:cs typeface="Aptos"/>
              </a:rPr>
              <a:t>корзина</a:t>
            </a:r>
            <a:endParaRPr lang="ru-RU" sz="1750"/>
          </a:p>
        </p:txBody>
      </p:sp>
      <p:sp>
        <p:nvSpPr>
          <p:cNvPr id="23" name="TextBox 23"/>
          <p:cNvSpPr txBox="1"/>
          <p:nvPr/>
        </p:nvSpPr>
        <p:spPr>
          <a:xfrm>
            <a:off x="9660000" y="354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BD5E1"/>
                </a:solidFill>
                <a:latin typeface="Aptos"/>
                <a:cs typeface="Aptos"/>
              </a:rPr>
              <a:t>AI</a:t>
            </a:r>
            <a:endParaRPr lang="ru-RU" sz="1750"/>
          </a:p>
        </p:txBody>
      </p:sp>
      <p:sp>
        <p:nvSpPr>
          <p:cNvPr id="24" name="TextBox 24"/>
          <p:cNvSpPr txBox="1"/>
          <p:nvPr/>
        </p:nvSpPr>
        <p:spPr>
          <a:xfrm>
            <a:off x="9660000" y="408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9A45C"/>
                </a:solidFill>
                <a:latin typeface="Aptos"/>
                <a:cs typeface="Aptos"/>
              </a:rPr>
              <a:t>кабинет</a:t>
            </a:r>
            <a:endParaRPr lang="ru-RU" sz="1750"/>
          </a:p>
        </p:txBody>
      </p:sp>
      <p:sp>
        <p:nvSpPr>
          <p:cNvPr id="70" name="TextBox 70"/>
          <p:cNvSpPr txBox="1"/>
          <p:nvPr/>
        </p:nvSpPr>
        <p:spPr>
          <a:xfrm>
            <a:off x="850000" y="3180000"/>
            <a:ext cx="7700000" cy="2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Главная и лендинг с позиционированием сервиса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Каталоги: исламские похороны, классические похороны, кремация, магазин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Корзина и checkout с вариантами оплаты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Личный кабинет и чат с помощником</a:t>
            </a:r>
            <a:endParaRPr lang="ru-RU" sz="1780"/>
          </a:p>
        </p:txBody>
      </p:sp>
      <p:sp>
        <p:nvSpPr>
          <p:cNvPr id="90" name="TextBox 90"/>
          <p:cNvSpPr txBox="1"/>
          <p:nvPr/>
        </p:nvSpPr>
        <p:spPr>
          <a:xfrm>
            <a:off x="615000" y="6500000"/>
            <a:ext cx="500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50" b="0">
                <a:solidFill>
                  <a:srgbClr val="94A3B8"/>
                </a:solidFill>
                <a:latin typeface="Aptos"/>
                <a:cs typeface="Aptos"/>
              </a:rPr>
              <a:t>GRUZ 200 | funeral-services</a:t>
            </a:r>
            <a:endParaRPr lang="ru-RU" sz="10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522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520000" cy="6858000"/>
          </a:xfrm>
          <a:prstGeom prst="rect">
            <a:avLst/>
          </a:prstGeom>
          <a:solidFill>
            <a:srgbClr val="C9A45C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620000" y="540000"/>
            <a:ext cx="2100000" cy="420000"/>
          </a:xfrm>
          <a:prstGeom prst="roundRect">
            <a:avLst/>
          </a:prstGeom>
          <a:solidFill>
            <a:srgbClr val="7C6A46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60000" y="650000"/>
            <a:ext cx="18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250" b="1">
                <a:solidFill>
                  <a:srgbClr val="F8FAFC"/>
                </a:solidFill>
                <a:latin typeface="Aptos"/>
                <a:cs typeface="Aptos"/>
              </a:rPr>
              <a:t>СЦЕНАРИЙ</a:t>
            </a:r>
            <a:endParaRPr lang="ru-RU" sz="1250"/>
          </a:p>
        </p:txBody>
      </p:sp>
      <p:sp>
        <p:nvSpPr>
          <p:cNvPr id="6" name="TextBox 6"/>
          <p:cNvSpPr txBox="1"/>
          <p:nvPr/>
        </p:nvSpPr>
        <p:spPr>
          <a:xfrm>
            <a:off x="610000" y="1200000"/>
            <a:ext cx="77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600" b="1">
                <a:solidFill>
                  <a:srgbClr val="F8FAFC"/>
                </a:solidFill>
                <a:latin typeface="Aptos"/>
                <a:cs typeface="Aptos"/>
              </a:rPr>
              <a:t>Путь пользователя</a:t>
            </a:r>
            <a:endParaRPr lang="ru-RU" sz="3600"/>
          </a:p>
        </p:txBody>
      </p:sp>
      <p:sp>
        <p:nvSpPr>
          <p:cNvPr id="7" name="TextBox 7"/>
          <p:cNvSpPr txBox="1"/>
          <p:nvPr/>
        </p:nvSpPr>
        <p:spPr>
          <a:xfrm>
            <a:off x="620000" y="2050000"/>
            <a:ext cx="8300000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850" b="0">
                <a:solidFill>
                  <a:srgbClr val="CBD5E1"/>
                </a:solidFill>
                <a:latin typeface="Aptos"/>
                <a:cs typeface="Aptos"/>
              </a:rPr>
              <a:t>Пользователь проходит короткий и логичный маршрут.</a:t>
            </a:r>
            <a:endParaRPr lang="ru-RU" sz="1850"/>
          </a:p>
        </p:txBody>
      </p:sp>
      <p:sp>
        <p:nvSpPr>
          <p:cNvPr id="8" name="Shape 8"/>
          <p:cNvSpPr/>
          <p:nvPr/>
        </p:nvSpPr>
        <p:spPr>
          <a:xfrm>
            <a:off x="9300000" y="720000"/>
            <a:ext cx="2300000" cy="5140000"/>
          </a:xfrm>
          <a:prstGeom prst="roundRect">
            <a:avLst/>
          </a:prstGeom>
          <a:solidFill>
            <a:srgbClr val="172033"/>
          </a:solidFill>
          <a:ln>
            <a:solidFill>
              <a:srgbClr val="7C6A46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9680000" y="1040000"/>
            <a:ext cx="16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2100" b="1">
                <a:solidFill>
                  <a:srgbClr val="C9A45C"/>
                </a:solidFill>
                <a:latin typeface="Aptos"/>
                <a:cs typeface="Aptos"/>
              </a:rPr>
              <a:t>06 / 20</a:t>
            </a:r>
            <a:endParaRPr lang="ru-RU" sz="2100"/>
          </a:p>
        </p:txBody>
      </p:sp>
      <p:sp>
        <p:nvSpPr>
          <p:cNvPr id="10" name="Shape 10"/>
          <p:cNvSpPr/>
          <p:nvPr/>
        </p:nvSpPr>
        <p:spPr>
          <a:xfrm>
            <a:off x="9780000" y="1570000"/>
            <a:ext cx="1340000" cy="22000"/>
          </a:xfrm>
          <a:prstGeom prst="rect">
            <a:avLst/>
          </a:prstGeom>
          <a:solidFill>
            <a:srgbClr val="C9A45C"/>
          </a:solidFill>
          <a:ln>
            <a:noFill/>
          </a:ln>
        </p:spPr>
      </p:sp>
      <p:sp>
        <p:nvSpPr>
          <p:cNvPr id="20" name="Shape 20"/>
          <p:cNvSpPr/>
          <p:nvPr/>
        </p:nvSpPr>
        <p:spPr>
          <a:xfrm>
            <a:off x="9550000" y="1930000"/>
            <a:ext cx="1800000" cy="48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9760000" y="2055000"/>
            <a:ext cx="138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280" b="0">
                <a:solidFill>
                  <a:srgbClr val="F8FAFC"/>
                </a:solidFill>
                <a:latin typeface="Aptos"/>
                <a:cs typeface="Aptos"/>
              </a:rPr>
              <a:t>Заходит на лендинг и понимает, чем помогает сервис</a:t>
            </a:r>
            <a:endParaRPr lang="ru-RU" sz="1280"/>
          </a:p>
        </p:txBody>
      </p:sp>
      <p:sp>
        <p:nvSpPr>
          <p:cNvPr id="21" name="Shape 21"/>
          <p:cNvSpPr/>
          <p:nvPr/>
        </p:nvSpPr>
        <p:spPr>
          <a:xfrm>
            <a:off x="9550000" y="2600000"/>
            <a:ext cx="1800000" cy="48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9760000" y="2725000"/>
            <a:ext cx="138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280" b="0">
                <a:solidFill>
                  <a:srgbClr val="F8FAFC"/>
                </a:solidFill>
                <a:latin typeface="Aptos"/>
                <a:cs typeface="Aptos"/>
              </a:rPr>
              <a:t>Регистрируется или входит в аккаунт</a:t>
            </a:r>
            <a:endParaRPr lang="ru-RU" sz="1280"/>
          </a:p>
        </p:txBody>
      </p:sp>
      <p:sp>
        <p:nvSpPr>
          <p:cNvPr id="22" name="Shape 22"/>
          <p:cNvSpPr/>
          <p:nvPr/>
        </p:nvSpPr>
        <p:spPr>
          <a:xfrm>
            <a:off x="9550000" y="3270000"/>
            <a:ext cx="1800000" cy="48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9760000" y="3395000"/>
            <a:ext cx="138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280" b="0">
                <a:solidFill>
                  <a:srgbClr val="F8FAFC"/>
                </a:solidFill>
                <a:latin typeface="Aptos"/>
                <a:cs typeface="Aptos"/>
              </a:rPr>
              <a:t>Выбирает услугу или товар в каталоге</a:t>
            </a:r>
            <a:endParaRPr lang="ru-RU" sz="1280"/>
          </a:p>
        </p:txBody>
      </p:sp>
      <p:sp>
        <p:nvSpPr>
          <p:cNvPr id="23" name="Shape 23"/>
          <p:cNvSpPr/>
          <p:nvPr/>
        </p:nvSpPr>
        <p:spPr>
          <a:xfrm>
            <a:off x="9550000" y="3940000"/>
            <a:ext cx="1800000" cy="48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9760000" y="4065000"/>
            <a:ext cx="138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280" b="0">
                <a:solidFill>
                  <a:srgbClr val="F8FAFC"/>
                </a:solidFill>
                <a:latin typeface="Aptos"/>
                <a:cs typeface="Aptos"/>
              </a:rPr>
              <a:t>Добавляет позиции в корзину и оформляет заказ</a:t>
            </a:r>
            <a:endParaRPr lang="ru-RU" sz="1280"/>
          </a:p>
        </p:txBody>
      </p:sp>
      <p:sp>
        <p:nvSpPr>
          <p:cNvPr id="24" name="Shape 24"/>
          <p:cNvSpPr/>
          <p:nvPr/>
        </p:nvSpPr>
        <p:spPr>
          <a:xfrm>
            <a:off x="9550000" y="4610000"/>
            <a:ext cx="1800000" cy="48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9760000" y="4735000"/>
            <a:ext cx="138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280" b="0">
                <a:solidFill>
                  <a:srgbClr val="F8FAFC"/>
                </a:solidFill>
                <a:latin typeface="Aptos"/>
                <a:cs typeface="Aptos"/>
              </a:rPr>
              <a:t>При необходимости задаёт вопрос AI-помощнику</a:t>
            </a:r>
            <a:endParaRPr lang="ru-RU" sz="1280"/>
          </a:p>
        </p:txBody>
      </p:sp>
      <p:sp>
        <p:nvSpPr>
          <p:cNvPr id="70" name="TextBox 70"/>
          <p:cNvSpPr txBox="1"/>
          <p:nvPr/>
        </p:nvSpPr>
        <p:spPr>
          <a:xfrm>
            <a:off x="850000" y="3180000"/>
            <a:ext cx="7700000" cy="2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1. Заходит на лендинг и понимает, чем помогает сервис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2. Регистрируется или входит в аккаунт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3. Выбирает услугу или товар в каталоге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4. Добавляет позиции в корзину и оформляет заказ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5. При необходимости задаёт вопрос AI-помощнику</a:t>
            </a:r>
            <a:endParaRPr lang="ru-RU" sz="1780"/>
          </a:p>
        </p:txBody>
      </p:sp>
      <p:sp>
        <p:nvSpPr>
          <p:cNvPr id="90" name="TextBox 90"/>
          <p:cNvSpPr txBox="1"/>
          <p:nvPr/>
        </p:nvSpPr>
        <p:spPr>
          <a:xfrm>
            <a:off x="615000" y="6500000"/>
            <a:ext cx="500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50" b="0">
                <a:solidFill>
                  <a:srgbClr val="94A3B8"/>
                </a:solidFill>
                <a:latin typeface="Aptos"/>
                <a:cs typeface="Aptos"/>
              </a:rPr>
              <a:t>GRUZ 200 | funeral-services</a:t>
            </a:r>
            <a:endParaRPr lang="ru-RU" sz="10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522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520000" cy="6858000"/>
          </a:xfrm>
          <a:prstGeom prst="rect">
            <a:avLst/>
          </a:prstGeom>
          <a:solidFill>
            <a:srgbClr val="C9A45C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620000" y="540000"/>
            <a:ext cx="2100000" cy="420000"/>
          </a:xfrm>
          <a:prstGeom prst="roundRect">
            <a:avLst/>
          </a:prstGeom>
          <a:solidFill>
            <a:srgbClr val="7C6A46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60000" y="650000"/>
            <a:ext cx="18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250" b="1">
                <a:solidFill>
                  <a:srgbClr val="F8FAFC"/>
                </a:solidFill>
                <a:latin typeface="Aptos"/>
                <a:cs typeface="Aptos"/>
              </a:rPr>
              <a:t>FRONTEND</a:t>
            </a:r>
            <a:endParaRPr lang="ru-RU" sz="1250"/>
          </a:p>
        </p:txBody>
      </p:sp>
      <p:sp>
        <p:nvSpPr>
          <p:cNvPr id="6" name="TextBox 6"/>
          <p:cNvSpPr txBox="1"/>
          <p:nvPr/>
        </p:nvSpPr>
        <p:spPr>
          <a:xfrm>
            <a:off x="610000" y="1200000"/>
            <a:ext cx="77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600" b="1">
                <a:solidFill>
                  <a:srgbClr val="F8FAFC"/>
                </a:solidFill>
                <a:latin typeface="Aptos"/>
                <a:cs typeface="Aptos"/>
              </a:rPr>
              <a:t>Клиентская часть</a:t>
            </a:r>
            <a:endParaRPr lang="ru-RU" sz="3600"/>
          </a:p>
        </p:txBody>
      </p:sp>
      <p:sp>
        <p:nvSpPr>
          <p:cNvPr id="7" name="TextBox 7"/>
          <p:cNvSpPr txBox="1"/>
          <p:nvPr/>
        </p:nvSpPr>
        <p:spPr>
          <a:xfrm>
            <a:off x="620000" y="2050000"/>
            <a:ext cx="8300000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850" b="0">
                <a:solidFill>
                  <a:srgbClr val="CBD5E1"/>
                </a:solidFill>
                <a:latin typeface="Aptos"/>
                <a:cs typeface="Aptos"/>
              </a:rPr>
              <a:t>Frontend реализован на Next.js, React и TypeScript.</a:t>
            </a:r>
            <a:endParaRPr lang="ru-RU" sz="1850"/>
          </a:p>
        </p:txBody>
      </p:sp>
      <p:sp>
        <p:nvSpPr>
          <p:cNvPr id="8" name="Shape 8"/>
          <p:cNvSpPr/>
          <p:nvPr/>
        </p:nvSpPr>
        <p:spPr>
          <a:xfrm>
            <a:off x="9300000" y="720000"/>
            <a:ext cx="2300000" cy="5140000"/>
          </a:xfrm>
          <a:prstGeom prst="roundRect">
            <a:avLst/>
          </a:prstGeom>
          <a:solidFill>
            <a:srgbClr val="172033"/>
          </a:solidFill>
          <a:ln>
            <a:solidFill>
              <a:srgbClr val="7C6A46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9680000" y="1040000"/>
            <a:ext cx="16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2100" b="1">
                <a:solidFill>
                  <a:srgbClr val="C9A45C"/>
                </a:solidFill>
                <a:latin typeface="Aptos"/>
                <a:cs typeface="Aptos"/>
              </a:rPr>
              <a:t>07 / 20</a:t>
            </a:r>
            <a:endParaRPr lang="ru-RU" sz="2100"/>
          </a:p>
        </p:txBody>
      </p:sp>
      <p:sp>
        <p:nvSpPr>
          <p:cNvPr id="10" name="Shape 10"/>
          <p:cNvSpPr/>
          <p:nvPr/>
        </p:nvSpPr>
        <p:spPr>
          <a:xfrm>
            <a:off x="9780000" y="1570000"/>
            <a:ext cx="1340000" cy="22000"/>
          </a:xfrm>
          <a:prstGeom prst="rect">
            <a:avLst/>
          </a:prstGeom>
          <a:solidFill>
            <a:srgbClr val="C9A45C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660000" y="192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9A45C"/>
                </a:solidFill>
                <a:latin typeface="Aptos"/>
                <a:cs typeface="Aptos"/>
              </a:rPr>
              <a:t>24/7</a:t>
            </a:r>
            <a:endParaRPr lang="ru-RU" sz="1750"/>
          </a:p>
        </p:txBody>
      </p:sp>
      <p:sp>
        <p:nvSpPr>
          <p:cNvPr id="21" name="TextBox 21"/>
          <p:cNvSpPr txBox="1"/>
          <p:nvPr/>
        </p:nvSpPr>
        <p:spPr>
          <a:xfrm>
            <a:off x="9660000" y="246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BD5E1"/>
                </a:solidFill>
                <a:latin typeface="Aptos"/>
                <a:cs typeface="Aptos"/>
              </a:rPr>
              <a:t>каталог</a:t>
            </a:r>
            <a:endParaRPr lang="ru-RU" sz="1750"/>
          </a:p>
        </p:txBody>
      </p:sp>
      <p:sp>
        <p:nvSpPr>
          <p:cNvPr id="22" name="TextBox 22"/>
          <p:cNvSpPr txBox="1"/>
          <p:nvPr/>
        </p:nvSpPr>
        <p:spPr>
          <a:xfrm>
            <a:off x="9660000" y="300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9A45C"/>
                </a:solidFill>
                <a:latin typeface="Aptos"/>
                <a:cs typeface="Aptos"/>
              </a:rPr>
              <a:t>корзина</a:t>
            </a:r>
            <a:endParaRPr lang="ru-RU" sz="1750"/>
          </a:p>
        </p:txBody>
      </p:sp>
      <p:sp>
        <p:nvSpPr>
          <p:cNvPr id="23" name="TextBox 23"/>
          <p:cNvSpPr txBox="1"/>
          <p:nvPr/>
        </p:nvSpPr>
        <p:spPr>
          <a:xfrm>
            <a:off x="9660000" y="354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BD5E1"/>
                </a:solidFill>
                <a:latin typeface="Aptos"/>
                <a:cs typeface="Aptos"/>
              </a:rPr>
              <a:t>AI</a:t>
            </a:r>
            <a:endParaRPr lang="ru-RU" sz="1750"/>
          </a:p>
        </p:txBody>
      </p:sp>
      <p:sp>
        <p:nvSpPr>
          <p:cNvPr id="24" name="TextBox 24"/>
          <p:cNvSpPr txBox="1"/>
          <p:nvPr/>
        </p:nvSpPr>
        <p:spPr>
          <a:xfrm>
            <a:off x="9660000" y="408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9A45C"/>
                </a:solidFill>
                <a:latin typeface="Aptos"/>
                <a:cs typeface="Aptos"/>
              </a:rPr>
              <a:t>кабинет</a:t>
            </a:r>
            <a:endParaRPr lang="ru-RU" sz="1750"/>
          </a:p>
        </p:txBody>
      </p:sp>
      <p:sp>
        <p:nvSpPr>
          <p:cNvPr id="70" name="TextBox 70"/>
          <p:cNvSpPr txBox="1"/>
          <p:nvPr/>
        </p:nvSpPr>
        <p:spPr>
          <a:xfrm>
            <a:off x="850000" y="3180000"/>
            <a:ext cx="7700000" cy="2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Next.js 16 App Router для страниц и маршрутов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React 19 для интерфейса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Redux Toolkit и React Redux для состояния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Axios для запросов к API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Модульная структура: app, widgets, features, entities, shared</a:t>
            </a:r>
            <a:endParaRPr lang="ru-RU" sz="1780"/>
          </a:p>
        </p:txBody>
      </p:sp>
      <p:sp>
        <p:nvSpPr>
          <p:cNvPr id="90" name="TextBox 90"/>
          <p:cNvSpPr txBox="1"/>
          <p:nvPr/>
        </p:nvSpPr>
        <p:spPr>
          <a:xfrm>
            <a:off x="615000" y="6500000"/>
            <a:ext cx="500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50" b="0">
                <a:solidFill>
                  <a:srgbClr val="94A3B8"/>
                </a:solidFill>
                <a:latin typeface="Aptos"/>
                <a:cs typeface="Aptos"/>
              </a:rPr>
              <a:t>GRUZ 200 | funeral-services</a:t>
            </a:r>
            <a:endParaRPr lang="ru-RU" sz="10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522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520000" cy="6858000"/>
          </a:xfrm>
          <a:prstGeom prst="rect">
            <a:avLst/>
          </a:prstGeom>
          <a:solidFill>
            <a:srgbClr val="C9A45C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620000" y="540000"/>
            <a:ext cx="2100000" cy="420000"/>
          </a:xfrm>
          <a:prstGeom prst="roundRect">
            <a:avLst/>
          </a:prstGeom>
          <a:solidFill>
            <a:srgbClr val="7C6A46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60000" y="650000"/>
            <a:ext cx="18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250" b="1">
                <a:solidFill>
                  <a:srgbClr val="F8FAFC"/>
                </a:solidFill>
                <a:latin typeface="Aptos"/>
                <a:cs typeface="Aptos"/>
              </a:rPr>
              <a:t>UI</a:t>
            </a:r>
            <a:endParaRPr lang="ru-RU" sz="1250"/>
          </a:p>
        </p:txBody>
      </p:sp>
      <p:sp>
        <p:nvSpPr>
          <p:cNvPr id="6" name="TextBox 6"/>
          <p:cNvSpPr txBox="1"/>
          <p:nvPr/>
        </p:nvSpPr>
        <p:spPr>
          <a:xfrm>
            <a:off x="610000" y="1200000"/>
            <a:ext cx="77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600" b="1">
                <a:solidFill>
                  <a:srgbClr val="F8FAFC"/>
                </a:solidFill>
                <a:latin typeface="Aptos"/>
                <a:cs typeface="Aptos"/>
              </a:rPr>
              <a:t>Интерфейс и навигация</a:t>
            </a:r>
            <a:endParaRPr lang="ru-RU" sz="3600"/>
          </a:p>
        </p:txBody>
      </p:sp>
      <p:sp>
        <p:nvSpPr>
          <p:cNvPr id="7" name="TextBox 7"/>
          <p:cNvSpPr txBox="1"/>
          <p:nvPr/>
        </p:nvSpPr>
        <p:spPr>
          <a:xfrm>
            <a:off x="620000" y="2050000"/>
            <a:ext cx="8300000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850" b="0">
                <a:solidFill>
                  <a:srgbClr val="CBD5E1"/>
                </a:solidFill>
                <a:latin typeface="Aptos"/>
                <a:cs typeface="Aptos"/>
              </a:rPr>
              <a:t>В интерфейсе сделан акцент на спокойную визуальную подачу и быстрый доступ к важному.</a:t>
            </a:r>
            <a:endParaRPr lang="ru-RU" sz="1850"/>
          </a:p>
        </p:txBody>
      </p:sp>
      <p:sp>
        <p:nvSpPr>
          <p:cNvPr id="8" name="Shape 8"/>
          <p:cNvSpPr/>
          <p:nvPr/>
        </p:nvSpPr>
        <p:spPr>
          <a:xfrm>
            <a:off x="9300000" y="720000"/>
            <a:ext cx="2300000" cy="5140000"/>
          </a:xfrm>
          <a:prstGeom prst="roundRect">
            <a:avLst/>
          </a:prstGeom>
          <a:solidFill>
            <a:srgbClr val="172033"/>
          </a:solidFill>
          <a:ln>
            <a:solidFill>
              <a:srgbClr val="7C6A46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9680000" y="1040000"/>
            <a:ext cx="16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2100" b="1">
                <a:solidFill>
                  <a:srgbClr val="C9A45C"/>
                </a:solidFill>
                <a:latin typeface="Aptos"/>
                <a:cs typeface="Aptos"/>
              </a:rPr>
              <a:t>08 / 20</a:t>
            </a:r>
            <a:endParaRPr lang="ru-RU" sz="2100"/>
          </a:p>
        </p:txBody>
      </p:sp>
      <p:sp>
        <p:nvSpPr>
          <p:cNvPr id="10" name="Shape 10"/>
          <p:cNvSpPr/>
          <p:nvPr/>
        </p:nvSpPr>
        <p:spPr>
          <a:xfrm>
            <a:off x="9780000" y="1570000"/>
            <a:ext cx="1340000" cy="22000"/>
          </a:xfrm>
          <a:prstGeom prst="rect">
            <a:avLst/>
          </a:prstGeom>
          <a:solidFill>
            <a:srgbClr val="C9A45C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660000" y="192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9A45C"/>
                </a:solidFill>
                <a:latin typeface="Aptos"/>
                <a:cs typeface="Aptos"/>
              </a:rPr>
              <a:t>24/7</a:t>
            </a:r>
            <a:endParaRPr lang="ru-RU" sz="1750"/>
          </a:p>
        </p:txBody>
      </p:sp>
      <p:sp>
        <p:nvSpPr>
          <p:cNvPr id="21" name="TextBox 21"/>
          <p:cNvSpPr txBox="1"/>
          <p:nvPr/>
        </p:nvSpPr>
        <p:spPr>
          <a:xfrm>
            <a:off x="9660000" y="246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BD5E1"/>
                </a:solidFill>
                <a:latin typeface="Aptos"/>
                <a:cs typeface="Aptos"/>
              </a:rPr>
              <a:t>каталог</a:t>
            </a:r>
            <a:endParaRPr lang="ru-RU" sz="1750"/>
          </a:p>
        </p:txBody>
      </p:sp>
      <p:sp>
        <p:nvSpPr>
          <p:cNvPr id="22" name="TextBox 22"/>
          <p:cNvSpPr txBox="1"/>
          <p:nvPr/>
        </p:nvSpPr>
        <p:spPr>
          <a:xfrm>
            <a:off x="9660000" y="300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9A45C"/>
                </a:solidFill>
                <a:latin typeface="Aptos"/>
                <a:cs typeface="Aptos"/>
              </a:rPr>
              <a:t>корзина</a:t>
            </a:r>
            <a:endParaRPr lang="ru-RU" sz="1750"/>
          </a:p>
        </p:txBody>
      </p:sp>
      <p:sp>
        <p:nvSpPr>
          <p:cNvPr id="23" name="TextBox 23"/>
          <p:cNvSpPr txBox="1"/>
          <p:nvPr/>
        </p:nvSpPr>
        <p:spPr>
          <a:xfrm>
            <a:off x="9660000" y="354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BD5E1"/>
                </a:solidFill>
                <a:latin typeface="Aptos"/>
                <a:cs typeface="Aptos"/>
              </a:rPr>
              <a:t>AI</a:t>
            </a:r>
            <a:endParaRPr lang="ru-RU" sz="1750"/>
          </a:p>
        </p:txBody>
      </p:sp>
      <p:sp>
        <p:nvSpPr>
          <p:cNvPr id="24" name="TextBox 24"/>
          <p:cNvSpPr txBox="1"/>
          <p:nvPr/>
        </p:nvSpPr>
        <p:spPr>
          <a:xfrm>
            <a:off x="9660000" y="408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9A45C"/>
                </a:solidFill>
                <a:latin typeface="Aptos"/>
                <a:cs typeface="Aptos"/>
              </a:rPr>
              <a:t>кабинет</a:t>
            </a:r>
            <a:endParaRPr lang="ru-RU" sz="1750"/>
          </a:p>
        </p:txBody>
      </p:sp>
      <p:sp>
        <p:nvSpPr>
          <p:cNvPr id="70" name="TextBox 70"/>
          <p:cNvSpPr txBox="1"/>
          <p:nvPr/>
        </p:nvSpPr>
        <p:spPr>
          <a:xfrm>
            <a:off x="850000" y="3180000"/>
            <a:ext cx="7700000" cy="2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Header меняется в зависимости от авторизации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Dropdown-меню ведут в кабинет, обращение и услуги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Главная страница защищена и доступна после входа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Отдельные страницы для контактов, корзины, оплаты и успеха</a:t>
            </a:r>
            <a:endParaRPr lang="ru-RU" sz="1780"/>
          </a:p>
        </p:txBody>
      </p:sp>
      <p:sp>
        <p:nvSpPr>
          <p:cNvPr id="90" name="TextBox 90"/>
          <p:cNvSpPr txBox="1"/>
          <p:nvPr/>
        </p:nvSpPr>
        <p:spPr>
          <a:xfrm>
            <a:off x="615000" y="6500000"/>
            <a:ext cx="500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50" b="0">
                <a:solidFill>
                  <a:srgbClr val="94A3B8"/>
                </a:solidFill>
                <a:latin typeface="Aptos"/>
                <a:cs typeface="Aptos"/>
              </a:rPr>
              <a:t>GRUZ 200 | funeral-services</a:t>
            </a:r>
            <a:endParaRPr lang="ru-RU" sz="10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522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520000" cy="6858000"/>
          </a:xfrm>
          <a:prstGeom prst="rect">
            <a:avLst/>
          </a:prstGeom>
          <a:solidFill>
            <a:srgbClr val="C9A45C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620000" y="540000"/>
            <a:ext cx="2100000" cy="420000"/>
          </a:xfrm>
          <a:prstGeom prst="roundRect">
            <a:avLst/>
          </a:prstGeom>
          <a:solidFill>
            <a:srgbClr val="7C6A46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60000" y="650000"/>
            <a:ext cx="18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250" b="1">
                <a:solidFill>
                  <a:srgbClr val="F8FAFC"/>
                </a:solidFill>
                <a:latin typeface="Aptos"/>
                <a:cs typeface="Aptos"/>
              </a:rPr>
              <a:t>КАТАЛОГ</a:t>
            </a:r>
            <a:endParaRPr lang="ru-RU" sz="1250"/>
          </a:p>
        </p:txBody>
      </p:sp>
      <p:sp>
        <p:nvSpPr>
          <p:cNvPr id="6" name="TextBox 6"/>
          <p:cNvSpPr txBox="1"/>
          <p:nvPr/>
        </p:nvSpPr>
        <p:spPr>
          <a:xfrm>
            <a:off x="610000" y="1200000"/>
            <a:ext cx="77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600" b="1">
                <a:solidFill>
                  <a:srgbClr val="F8FAFC"/>
                </a:solidFill>
                <a:latin typeface="Aptos"/>
                <a:cs typeface="Aptos"/>
              </a:rPr>
              <a:t>Категории услуг</a:t>
            </a:r>
            <a:endParaRPr lang="ru-RU" sz="3600"/>
          </a:p>
        </p:txBody>
      </p:sp>
      <p:sp>
        <p:nvSpPr>
          <p:cNvPr id="7" name="TextBox 7"/>
          <p:cNvSpPr txBox="1"/>
          <p:nvPr/>
        </p:nvSpPr>
        <p:spPr>
          <a:xfrm>
            <a:off x="620000" y="2050000"/>
            <a:ext cx="8300000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850" b="0">
                <a:solidFill>
                  <a:srgbClr val="CBD5E1"/>
                </a:solidFill>
                <a:latin typeface="Aptos"/>
                <a:cs typeface="Aptos"/>
              </a:rPr>
              <a:t>Каталог разделён на несколько смысловых направлений.</a:t>
            </a:r>
            <a:endParaRPr lang="ru-RU" sz="1850"/>
          </a:p>
        </p:txBody>
      </p:sp>
      <p:sp>
        <p:nvSpPr>
          <p:cNvPr id="8" name="Shape 8"/>
          <p:cNvSpPr/>
          <p:nvPr/>
        </p:nvSpPr>
        <p:spPr>
          <a:xfrm>
            <a:off x="9300000" y="720000"/>
            <a:ext cx="2300000" cy="5140000"/>
          </a:xfrm>
          <a:prstGeom prst="roundRect">
            <a:avLst/>
          </a:prstGeom>
          <a:solidFill>
            <a:srgbClr val="172033"/>
          </a:solidFill>
          <a:ln>
            <a:solidFill>
              <a:srgbClr val="7C6A46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9680000" y="1040000"/>
            <a:ext cx="16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2100" b="1">
                <a:solidFill>
                  <a:srgbClr val="C9A45C"/>
                </a:solidFill>
                <a:latin typeface="Aptos"/>
                <a:cs typeface="Aptos"/>
              </a:rPr>
              <a:t>09 / 20</a:t>
            </a:r>
            <a:endParaRPr lang="ru-RU" sz="2100"/>
          </a:p>
        </p:txBody>
      </p:sp>
      <p:sp>
        <p:nvSpPr>
          <p:cNvPr id="10" name="Shape 10"/>
          <p:cNvSpPr/>
          <p:nvPr/>
        </p:nvSpPr>
        <p:spPr>
          <a:xfrm>
            <a:off x="9780000" y="1570000"/>
            <a:ext cx="1340000" cy="22000"/>
          </a:xfrm>
          <a:prstGeom prst="rect">
            <a:avLst/>
          </a:prstGeom>
          <a:solidFill>
            <a:srgbClr val="C9A45C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660000" y="192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9A45C"/>
                </a:solidFill>
                <a:latin typeface="Aptos"/>
                <a:cs typeface="Aptos"/>
              </a:rPr>
              <a:t>24/7</a:t>
            </a:r>
            <a:endParaRPr lang="ru-RU" sz="1750"/>
          </a:p>
        </p:txBody>
      </p:sp>
      <p:sp>
        <p:nvSpPr>
          <p:cNvPr id="21" name="TextBox 21"/>
          <p:cNvSpPr txBox="1"/>
          <p:nvPr/>
        </p:nvSpPr>
        <p:spPr>
          <a:xfrm>
            <a:off x="9660000" y="246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BD5E1"/>
                </a:solidFill>
                <a:latin typeface="Aptos"/>
                <a:cs typeface="Aptos"/>
              </a:rPr>
              <a:t>каталог</a:t>
            </a:r>
            <a:endParaRPr lang="ru-RU" sz="1750"/>
          </a:p>
        </p:txBody>
      </p:sp>
      <p:sp>
        <p:nvSpPr>
          <p:cNvPr id="22" name="TextBox 22"/>
          <p:cNvSpPr txBox="1"/>
          <p:nvPr/>
        </p:nvSpPr>
        <p:spPr>
          <a:xfrm>
            <a:off x="9660000" y="300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9A45C"/>
                </a:solidFill>
                <a:latin typeface="Aptos"/>
                <a:cs typeface="Aptos"/>
              </a:rPr>
              <a:t>корзина</a:t>
            </a:r>
            <a:endParaRPr lang="ru-RU" sz="1750"/>
          </a:p>
        </p:txBody>
      </p:sp>
      <p:sp>
        <p:nvSpPr>
          <p:cNvPr id="23" name="TextBox 23"/>
          <p:cNvSpPr txBox="1"/>
          <p:nvPr/>
        </p:nvSpPr>
        <p:spPr>
          <a:xfrm>
            <a:off x="9660000" y="354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BD5E1"/>
                </a:solidFill>
                <a:latin typeface="Aptos"/>
                <a:cs typeface="Aptos"/>
              </a:rPr>
              <a:t>AI</a:t>
            </a:r>
            <a:endParaRPr lang="ru-RU" sz="1750"/>
          </a:p>
        </p:txBody>
      </p:sp>
      <p:sp>
        <p:nvSpPr>
          <p:cNvPr id="24" name="TextBox 24"/>
          <p:cNvSpPr txBox="1"/>
          <p:nvPr/>
        </p:nvSpPr>
        <p:spPr>
          <a:xfrm>
            <a:off x="9660000" y="408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9A45C"/>
                </a:solidFill>
                <a:latin typeface="Aptos"/>
                <a:cs typeface="Aptos"/>
              </a:rPr>
              <a:t>кабинет</a:t>
            </a:r>
            <a:endParaRPr lang="ru-RU" sz="1750"/>
          </a:p>
        </p:txBody>
      </p:sp>
      <p:sp>
        <p:nvSpPr>
          <p:cNvPr id="70" name="TextBox 70"/>
          <p:cNvSpPr txBox="1"/>
          <p:nvPr/>
        </p:nvSpPr>
        <p:spPr>
          <a:xfrm>
            <a:off x="850000" y="3180000"/>
            <a:ext cx="7700000" cy="2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Исламские похороны: гусль, кафан, джаназа-намаз, сопровождение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Классические похороны: подготовка, зал, транспорт, захоронение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Кремация: организация процедуры и варианты хранения урны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Магазин 24/7: ритуальные товары и аксессуары</a:t>
            </a:r>
            <a:endParaRPr lang="ru-RU" sz="1780"/>
          </a:p>
        </p:txBody>
      </p:sp>
      <p:sp>
        <p:nvSpPr>
          <p:cNvPr id="90" name="TextBox 90"/>
          <p:cNvSpPr txBox="1"/>
          <p:nvPr/>
        </p:nvSpPr>
        <p:spPr>
          <a:xfrm>
            <a:off x="615000" y="6500000"/>
            <a:ext cx="500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50" b="0">
                <a:solidFill>
                  <a:srgbClr val="94A3B8"/>
                </a:solidFill>
                <a:latin typeface="Aptos"/>
                <a:cs typeface="Aptos"/>
              </a:rPr>
              <a:t>GRUZ 200 | funeral-services</a:t>
            </a:r>
            <a:endParaRPr lang="ru-RU" sz="10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522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520000" cy="6858000"/>
          </a:xfrm>
          <a:prstGeom prst="rect">
            <a:avLst/>
          </a:prstGeom>
          <a:solidFill>
            <a:srgbClr val="C9A45C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620000" y="540000"/>
            <a:ext cx="2100000" cy="420000"/>
          </a:xfrm>
          <a:prstGeom prst="roundRect">
            <a:avLst/>
          </a:prstGeom>
          <a:solidFill>
            <a:srgbClr val="7C6A46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60000" y="650000"/>
            <a:ext cx="18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250" b="1">
                <a:solidFill>
                  <a:srgbClr val="F8FAFC"/>
                </a:solidFill>
                <a:latin typeface="Aptos"/>
                <a:cs typeface="Aptos"/>
              </a:rPr>
              <a:t>КОРЗИНА</a:t>
            </a:r>
            <a:endParaRPr lang="ru-RU" sz="1250"/>
          </a:p>
        </p:txBody>
      </p:sp>
      <p:sp>
        <p:nvSpPr>
          <p:cNvPr id="6" name="TextBox 6"/>
          <p:cNvSpPr txBox="1"/>
          <p:nvPr/>
        </p:nvSpPr>
        <p:spPr>
          <a:xfrm>
            <a:off x="610000" y="1200000"/>
            <a:ext cx="77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600" b="1">
                <a:solidFill>
                  <a:srgbClr val="F8FAFC"/>
                </a:solidFill>
                <a:latin typeface="Aptos"/>
                <a:cs typeface="Aptos"/>
              </a:rPr>
              <a:t>Корзина и оформление</a:t>
            </a:r>
            <a:endParaRPr lang="ru-RU" sz="3600"/>
          </a:p>
        </p:txBody>
      </p:sp>
      <p:sp>
        <p:nvSpPr>
          <p:cNvPr id="7" name="TextBox 7"/>
          <p:cNvSpPr txBox="1"/>
          <p:nvPr/>
        </p:nvSpPr>
        <p:spPr>
          <a:xfrm>
            <a:off x="620000" y="2050000"/>
            <a:ext cx="8300000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850" b="0">
                <a:solidFill>
                  <a:srgbClr val="CBD5E1"/>
                </a:solidFill>
                <a:latin typeface="Aptos"/>
                <a:cs typeface="Aptos"/>
              </a:rPr>
              <a:t>Корзина объединяет позиции из разных каталогов в единый заказ.</a:t>
            </a:r>
            <a:endParaRPr lang="ru-RU" sz="1850"/>
          </a:p>
        </p:txBody>
      </p:sp>
      <p:sp>
        <p:nvSpPr>
          <p:cNvPr id="8" name="Shape 8"/>
          <p:cNvSpPr/>
          <p:nvPr/>
        </p:nvSpPr>
        <p:spPr>
          <a:xfrm>
            <a:off x="9300000" y="720000"/>
            <a:ext cx="2300000" cy="5140000"/>
          </a:xfrm>
          <a:prstGeom prst="roundRect">
            <a:avLst/>
          </a:prstGeom>
          <a:solidFill>
            <a:srgbClr val="172033"/>
          </a:solidFill>
          <a:ln>
            <a:solidFill>
              <a:srgbClr val="7C6A46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9680000" y="1040000"/>
            <a:ext cx="16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2100" b="1">
                <a:solidFill>
                  <a:srgbClr val="C9A45C"/>
                </a:solidFill>
                <a:latin typeface="Aptos"/>
                <a:cs typeface="Aptos"/>
              </a:rPr>
              <a:t>10 / 20</a:t>
            </a:r>
            <a:endParaRPr lang="ru-RU" sz="2100"/>
          </a:p>
        </p:txBody>
      </p:sp>
      <p:sp>
        <p:nvSpPr>
          <p:cNvPr id="10" name="Shape 10"/>
          <p:cNvSpPr/>
          <p:nvPr/>
        </p:nvSpPr>
        <p:spPr>
          <a:xfrm>
            <a:off x="9780000" y="1570000"/>
            <a:ext cx="1340000" cy="22000"/>
          </a:xfrm>
          <a:prstGeom prst="rect">
            <a:avLst/>
          </a:prstGeom>
          <a:solidFill>
            <a:srgbClr val="C9A45C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660000" y="192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9A45C"/>
                </a:solidFill>
                <a:latin typeface="Aptos"/>
                <a:cs typeface="Aptos"/>
              </a:rPr>
              <a:t>24/7</a:t>
            </a:r>
            <a:endParaRPr lang="ru-RU" sz="1750"/>
          </a:p>
        </p:txBody>
      </p:sp>
      <p:sp>
        <p:nvSpPr>
          <p:cNvPr id="21" name="TextBox 21"/>
          <p:cNvSpPr txBox="1"/>
          <p:nvPr/>
        </p:nvSpPr>
        <p:spPr>
          <a:xfrm>
            <a:off x="9660000" y="246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BD5E1"/>
                </a:solidFill>
                <a:latin typeface="Aptos"/>
                <a:cs typeface="Aptos"/>
              </a:rPr>
              <a:t>каталог</a:t>
            </a:r>
            <a:endParaRPr lang="ru-RU" sz="1750"/>
          </a:p>
        </p:txBody>
      </p:sp>
      <p:sp>
        <p:nvSpPr>
          <p:cNvPr id="22" name="TextBox 22"/>
          <p:cNvSpPr txBox="1"/>
          <p:nvPr/>
        </p:nvSpPr>
        <p:spPr>
          <a:xfrm>
            <a:off x="9660000" y="300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9A45C"/>
                </a:solidFill>
                <a:latin typeface="Aptos"/>
                <a:cs typeface="Aptos"/>
              </a:rPr>
              <a:t>корзина</a:t>
            </a:r>
            <a:endParaRPr lang="ru-RU" sz="1750"/>
          </a:p>
        </p:txBody>
      </p:sp>
      <p:sp>
        <p:nvSpPr>
          <p:cNvPr id="23" name="TextBox 23"/>
          <p:cNvSpPr txBox="1"/>
          <p:nvPr/>
        </p:nvSpPr>
        <p:spPr>
          <a:xfrm>
            <a:off x="9660000" y="354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BD5E1"/>
                </a:solidFill>
                <a:latin typeface="Aptos"/>
                <a:cs typeface="Aptos"/>
              </a:rPr>
              <a:t>AI</a:t>
            </a:r>
            <a:endParaRPr lang="ru-RU" sz="1750"/>
          </a:p>
        </p:txBody>
      </p:sp>
      <p:sp>
        <p:nvSpPr>
          <p:cNvPr id="24" name="TextBox 24"/>
          <p:cNvSpPr txBox="1"/>
          <p:nvPr/>
        </p:nvSpPr>
        <p:spPr>
          <a:xfrm>
            <a:off x="9660000" y="408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9A45C"/>
                </a:solidFill>
                <a:latin typeface="Aptos"/>
                <a:cs typeface="Aptos"/>
              </a:rPr>
              <a:t>кабинет</a:t>
            </a:r>
            <a:endParaRPr lang="ru-RU" sz="1750"/>
          </a:p>
        </p:txBody>
      </p:sp>
      <p:sp>
        <p:nvSpPr>
          <p:cNvPr id="70" name="TextBox 70"/>
          <p:cNvSpPr txBox="1"/>
          <p:nvPr/>
        </p:nvSpPr>
        <p:spPr>
          <a:xfrm>
            <a:off x="850000" y="3180000"/>
            <a:ext cx="7700000" cy="2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Один механизм добавления для товаров и услуг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Подсчёт итоговой суммы и количества позиций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Удаление позиций из корзины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Переход к checkout для подтверждения заказа</a:t>
            </a:r>
            <a:endParaRPr lang="ru-RU" sz="1780"/>
          </a:p>
        </p:txBody>
      </p:sp>
      <p:sp>
        <p:nvSpPr>
          <p:cNvPr id="90" name="TextBox 90"/>
          <p:cNvSpPr txBox="1"/>
          <p:nvPr/>
        </p:nvSpPr>
        <p:spPr>
          <a:xfrm>
            <a:off x="615000" y="6500000"/>
            <a:ext cx="500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50" b="0">
                <a:solidFill>
                  <a:srgbClr val="94A3B8"/>
                </a:solidFill>
                <a:latin typeface="Aptos"/>
                <a:cs typeface="Aptos"/>
              </a:rPr>
              <a:t>GRUZ 200 | funeral-services</a:t>
            </a:r>
            <a:endParaRPr lang="ru-RU" sz="10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522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520000" cy="6858000"/>
          </a:xfrm>
          <a:prstGeom prst="rect">
            <a:avLst/>
          </a:prstGeom>
          <a:solidFill>
            <a:srgbClr val="C9A45C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620000" y="540000"/>
            <a:ext cx="2100000" cy="420000"/>
          </a:xfrm>
          <a:prstGeom prst="roundRect">
            <a:avLst/>
          </a:prstGeom>
          <a:solidFill>
            <a:srgbClr val="7C6A46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60000" y="650000"/>
            <a:ext cx="18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250" b="1">
                <a:solidFill>
                  <a:srgbClr val="F8FAFC"/>
                </a:solidFill>
                <a:latin typeface="Aptos"/>
                <a:cs typeface="Aptos"/>
              </a:rPr>
              <a:t>ОПЛАТА</a:t>
            </a:r>
            <a:endParaRPr lang="ru-RU" sz="1250"/>
          </a:p>
        </p:txBody>
      </p:sp>
      <p:sp>
        <p:nvSpPr>
          <p:cNvPr id="6" name="TextBox 6"/>
          <p:cNvSpPr txBox="1"/>
          <p:nvPr/>
        </p:nvSpPr>
        <p:spPr>
          <a:xfrm>
            <a:off x="610000" y="1200000"/>
            <a:ext cx="77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600" b="1">
                <a:solidFill>
                  <a:srgbClr val="F8FAFC"/>
                </a:solidFill>
                <a:latin typeface="Aptos"/>
                <a:cs typeface="Aptos"/>
              </a:rPr>
              <a:t>Checkout и способы оплаты</a:t>
            </a:r>
            <a:endParaRPr lang="ru-RU" sz="3600"/>
          </a:p>
        </p:txBody>
      </p:sp>
      <p:sp>
        <p:nvSpPr>
          <p:cNvPr id="7" name="TextBox 7"/>
          <p:cNvSpPr txBox="1"/>
          <p:nvPr/>
        </p:nvSpPr>
        <p:spPr>
          <a:xfrm>
            <a:off x="620000" y="2050000"/>
            <a:ext cx="8300000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850" b="0">
                <a:solidFill>
                  <a:srgbClr val="CBD5E1"/>
                </a:solidFill>
                <a:latin typeface="Aptos"/>
                <a:cs typeface="Aptos"/>
              </a:rPr>
              <a:t>Страница оплаты показывает состав заказа и даёт пользователю выбор способа оплаты.</a:t>
            </a:r>
            <a:endParaRPr lang="ru-RU" sz="1850"/>
          </a:p>
        </p:txBody>
      </p:sp>
      <p:sp>
        <p:nvSpPr>
          <p:cNvPr id="8" name="Shape 8"/>
          <p:cNvSpPr/>
          <p:nvPr/>
        </p:nvSpPr>
        <p:spPr>
          <a:xfrm>
            <a:off x="9300000" y="720000"/>
            <a:ext cx="2300000" cy="5140000"/>
          </a:xfrm>
          <a:prstGeom prst="roundRect">
            <a:avLst/>
          </a:prstGeom>
          <a:solidFill>
            <a:srgbClr val="172033"/>
          </a:solidFill>
          <a:ln>
            <a:solidFill>
              <a:srgbClr val="7C6A46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9680000" y="1040000"/>
            <a:ext cx="16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2100" b="1">
                <a:solidFill>
                  <a:srgbClr val="C9A45C"/>
                </a:solidFill>
                <a:latin typeface="Aptos"/>
                <a:cs typeface="Aptos"/>
              </a:rPr>
              <a:t>11 / 20</a:t>
            </a:r>
            <a:endParaRPr lang="ru-RU" sz="2100"/>
          </a:p>
        </p:txBody>
      </p:sp>
      <p:sp>
        <p:nvSpPr>
          <p:cNvPr id="10" name="Shape 10"/>
          <p:cNvSpPr/>
          <p:nvPr/>
        </p:nvSpPr>
        <p:spPr>
          <a:xfrm>
            <a:off x="9780000" y="1570000"/>
            <a:ext cx="1340000" cy="22000"/>
          </a:xfrm>
          <a:prstGeom prst="rect">
            <a:avLst/>
          </a:prstGeom>
          <a:solidFill>
            <a:srgbClr val="C9A45C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660000" y="192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9A45C"/>
                </a:solidFill>
                <a:latin typeface="Aptos"/>
                <a:cs typeface="Aptos"/>
              </a:rPr>
              <a:t>24/7</a:t>
            </a:r>
            <a:endParaRPr lang="ru-RU" sz="1750"/>
          </a:p>
        </p:txBody>
      </p:sp>
      <p:sp>
        <p:nvSpPr>
          <p:cNvPr id="21" name="TextBox 21"/>
          <p:cNvSpPr txBox="1"/>
          <p:nvPr/>
        </p:nvSpPr>
        <p:spPr>
          <a:xfrm>
            <a:off x="9660000" y="246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BD5E1"/>
                </a:solidFill>
                <a:latin typeface="Aptos"/>
                <a:cs typeface="Aptos"/>
              </a:rPr>
              <a:t>каталог</a:t>
            </a:r>
            <a:endParaRPr lang="ru-RU" sz="1750"/>
          </a:p>
        </p:txBody>
      </p:sp>
      <p:sp>
        <p:nvSpPr>
          <p:cNvPr id="22" name="TextBox 22"/>
          <p:cNvSpPr txBox="1"/>
          <p:nvPr/>
        </p:nvSpPr>
        <p:spPr>
          <a:xfrm>
            <a:off x="9660000" y="300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9A45C"/>
                </a:solidFill>
                <a:latin typeface="Aptos"/>
                <a:cs typeface="Aptos"/>
              </a:rPr>
              <a:t>корзина</a:t>
            </a:r>
            <a:endParaRPr lang="ru-RU" sz="1750"/>
          </a:p>
        </p:txBody>
      </p:sp>
      <p:sp>
        <p:nvSpPr>
          <p:cNvPr id="23" name="TextBox 23"/>
          <p:cNvSpPr txBox="1"/>
          <p:nvPr/>
        </p:nvSpPr>
        <p:spPr>
          <a:xfrm>
            <a:off x="9660000" y="354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BD5E1"/>
                </a:solidFill>
                <a:latin typeface="Aptos"/>
                <a:cs typeface="Aptos"/>
              </a:rPr>
              <a:t>AI</a:t>
            </a:r>
            <a:endParaRPr lang="ru-RU" sz="1750"/>
          </a:p>
        </p:txBody>
      </p:sp>
      <p:sp>
        <p:nvSpPr>
          <p:cNvPr id="24" name="TextBox 24"/>
          <p:cNvSpPr txBox="1"/>
          <p:nvPr/>
        </p:nvSpPr>
        <p:spPr>
          <a:xfrm>
            <a:off x="9660000" y="408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9A45C"/>
                </a:solidFill>
                <a:latin typeface="Aptos"/>
                <a:cs typeface="Aptos"/>
              </a:rPr>
              <a:t>кабинет</a:t>
            </a:r>
            <a:endParaRPr lang="ru-RU" sz="1750"/>
          </a:p>
        </p:txBody>
      </p:sp>
      <p:sp>
        <p:nvSpPr>
          <p:cNvPr id="70" name="TextBox 70"/>
          <p:cNvSpPr txBox="1"/>
          <p:nvPr/>
        </p:nvSpPr>
        <p:spPr>
          <a:xfrm>
            <a:off x="850000" y="3180000"/>
            <a:ext cx="7700000" cy="2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Банковская карта с формой валидации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СБП через QR-блок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Оплата при встрече с отдельным модальным окном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Mock checkout на сервере возвращает сумму и количество позиций</a:t>
            </a:r>
            <a:endParaRPr lang="ru-RU" sz="1780"/>
          </a:p>
        </p:txBody>
      </p:sp>
      <p:sp>
        <p:nvSpPr>
          <p:cNvPr id="90" name="TextBox 90"/>
          <p:cNvSpPr txBox="1"/>
          <p:nvPr/>
        </p:nvSpPr>
        <p:spPr>
          <a:xfrm>
            <a:off x="615000" y="6500000"/>
            <a:ext cx="500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50" b="0">
                <a:solidFill>
                  <a:srgbClr val="94A3B8"/>
                </a:solidFill>
                <a:latin typeface="Aptos"/>
                <a:cs typeface="Aptos"/>
              </a:rPr>
              <a:t>GRUZ 200 | funeral-services</a:t>
            </a:r>
            <a:endParaRPr lang="ru-RU" sz="10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522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520000" cy="6858000"/>
          </a:xfrm>
          <a:prstGeom prst="rect">
            <a:avLst/>
          </a:prstGeom>
          <a:solidFill>
            <a:srgbClr val="C9A45C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620000" y="540000"/>
            <a:ext cx="2100000" cy="420000"/>
          </a:xfrm>
          <a:prstGeom prst="roundRect">
            <a:avLst/>
          </a:prstGeom>
          <a:solidFill>
            <a:srgbClr val="7C6A46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60000" y="650000"/>
            <a:ext cx="18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250" b="1">
                <a:solidFill>
                  <a:srgbClr val="F8FAFC"/>
                </a:solidFill>
                <a:latin typeface="Aptos"/>
                <a:cs typeface="Aptos"/>
              </a:rPr>
              <a:t>АККАУНТ</a:t>
            </a:r>
            <a:endParaRPr lang="ru-RU" sz="1250"/>
          </a:p>
        </p:txBody>
      </p:sp>
      <p:sp>
        <p:nvSpPr>
          <p:cNvPr id="6" name="TextBox 6"/>
          <p:cNvSpPr txBox="1"/>
          <p:nvPr/>
        </p:nvSpPr>
        <p:spPr>
          <a:xfrm>
            <a:off x="610000" y="1200000"/>
            <a:ext cx="77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600" b="1">
                <a:solidFill>
                  <a:srgbClr val="F8FAFC"/>
                </a:solidFill>
                <a:latin typeface="Aptos"/>
                <a:cs typeface="Aptos"/>
              </a:rPr>
              <a:t>Авторизация и личный кабинет</a:t>
            </a:r>
            <a:endParaRPr lang="ru-RU" sz="3600"/>
          </a:p>
        </p:txBody>
      </p:sp>
      <p:sp>
        <p:nvSpPr>
          <p:cNvPr id="7" name="TextBox 7"/>
          <p:cNvSpPr txBox="1"/>
          <p:nvPr/>
        </p:nvSpPr>
        <p:spPr>
          <a:xfrm>
            <a:off x="620000" y="2050000"/>
            <a:ext cx="8300000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850" b="0">
                <a:solidFill>
                  <a:srgbClr val="CBD5E1"/>
                </a:solidFill>
                <a:latin typeface="Aptos"/>
                <a:cs typeface="Aptos"/>
              </a:rPr>
              <a:t>Пользовательская зона закрыта от неавторизованных посетителей.</a:t>
            </a:r>
            <a:endParaRPr lang="ru-RU" sz="1850"/>
          </a:p>
        </p:txBody>
      </p:sp>
      <p:sp>
        <p:nvSpPr>
          <p:cNvPr id="8" name="Shape 8"/>
          <p:cNvSpPr/>
          <p:nvPr/>
        </p:nvSpPr>
        <p:spPr>
          <a:xfrm>
            <a:off x="9300000" y="720000"/>
            <a:ext cx="2300000" cy="5140000"/>
          </a:xfrm>
          <a:prstGeom prst="roundRect">
            <a:avLst/>
          </a:prstGeom>
          <a:solidFill>
            <a:srgbClr val="172033"/>
          </a:solidFill>
          <a:ln>
            <a:solidFill>
              <a:srgbClr val="7C6A46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9680000" y="1040000"/>
            <a:ext cx="16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2100" b="1">
                <a:solidFill>
                  <a:srgbClr val="C9A45C"/>
                </a:solidFill>
                <a:latin typeface="Aptos"/>
                <a:cs typeface="Aptos"/>
              </a:rPr>
              <a:t>12 / 20</a:t>
            </a:r>
            <a:endParaRPr lang="ru-RU" sz="2100"/>
          </a:p>
        </p:txBody>
      </p:sp>
      <p:sp>
        <p:nvSpPr>
          <p:cNvPr id="10" name="Shape 10"/>
          <p:cNvSpPr/>
          <p:nvPr/>
        </p:nvSpPr>
        <p:spPr>
          <a:xfrm>
            <a:off x="9780000" y="1570000"/>
            <a:ext cx="1340000" cy="22000"/>
          </a:xfrm>
          <a:prstGeom prst="rect">
            <a:avLst/>
          </a:prstGeom>
          <a:solidFill>
            <a:srgbClr val="C9A45C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660000" y="192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9A45C"/>
                </a:solidFill>
                <a:latin typeface="Aptos"/>
                <a:cs typeface="Aptos"/>
              </a:rPr>
              <a:t>24/7</a:t>
            </a:r>
            <a:endParaRPr lang="ru-RU" sz="1750"/>
          </a:p>
        </p:txBody>
      </p:sp>
      <p:sp>
        <p:nvSpPr>
          <p:cNvPr id="21" name="TextBox 21"/>
          <p:cNvSpPr txBox="1"/>
          <p:nvPr/>
        </p:nvSpPr>
        <p:spPr>
          <a:xfrm>
            <a:off x="9660000" y="246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BD5E1"/>
                </a:solidFill>
                <a:latin typeface="Aptos"/>
                <a:cs typeface="Aptos"/>
              </a:rPr>
              <a:t>каталог</a:t>
            </a:r>
            <a:endParaRPr lang="ru-RU" sz="1750"/>
          </a:p>
        </p:txBody>
      </p:sp>
      <p:sp>
        <p:nvSpPr>
          <p:cNvPr id="22" name="TextBox 22"/>
          <p:cNvSpPr txBox="1"/>
          <p:nvPr/>
        </p:nvSpPr>
        <p:spPr>
          <a:xfrm>
            <a:off x="9660000" y="300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9A45C"/>
                </a:solidFill>
                <a:latin typeface="Aptos"/>
                <a:cs typeface="Aptos"/>
              </a:rPr>
              <a:t>корзина</a:t>
            </a:r>
            <a:endParaRPr lang="ru-RU" sz="1750"/>
          </a:p>
        </p:txBody>
      </p:sp>
      <p:sp>
        <p:nvSpPr>
          <p:cNvPr id="23" name="TextBox 23"/>
          <p:cNvSpPr txBox="1"/>
          <p:nvPr/>
        </p:nvSpPr>
        <p:spPr>
          <a:xfrm>
            <a:off x="9660000" y="354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BD5E1"/>
                </a:solidFill>
                <a:latin typeface="Aptos"/>
                <a:cs typeface="Aptos"/>
              </a:rPr>
              <a:t>AI</a:t>
            </a:r>
            <a:endParaRPr lang="ru-RU" sz="1750"/>
          </a:p>
        </p:txBody>
      </p:sp>
      <p:sp>
        <p:nvSpPr>
          <p:cNvPr id="24" name="TextBox 24"/>
          <p:cNvSpPr txBox="1"/>
          <p:nvPr/>
        </p:nvSpPr>
        <p:spPr>
          <a:xfrm>
            <a:off x="9660000" y="408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9A45C"/>
                </a:solidFill>
                <a:latin typeface="Aptos"/>
                <a:cs typeface="Aptos"/>
              </a:rPr>
              <a:t>кабинет</a:t>
            </a:r>
            <a:endParaRPr lang="ru-RU" sz="1750"/>
          </a:p>
        </p:txBody>
      </p:sp>
      <p:sp>
        <p:nvSpPr>
          <p:cNvPr id="70" name="TextBox 70"/>
          <p:cNvSpPr txBox="1"/>
          <p:nvPr/>
        </p:nvSpPr>
        <p:spPr>
          <a:xfrm>
            <a:off x="850000" y="3180000"/>
            <a:ext cx="7700000" cy="2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Регистрация и вход через API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JWT access/refresh токены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Редактирование профиля и аватара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Смена пароля и удаление аккаунта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Навигация по услугам прямо из кабинета</a:t>
            </a:r>
            <a:endParaRPr lang="ru-RU" sz="1780"/>
          </a:p>
        </p:txBody>
      </p:sp>
      <p:sp>
        <p:nvSpPr>
          <p:cNvPr id="90" name="TextBox 90"/>
          <p:cNvSpPr txBox="1"/>
          <p:nvPr/>
        </p:nvSpPr>
        <p:spPr>
          <a:xfrm>
            <a:off x="615000" y="6500000"/>
            <a:ext cx="500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50" b="0">
                <a:solidFill>
                  <a:srgbClr val="94A3B8"/>
                </a:solidFill>
                <a:latin typeface="Aptos"/>
                <a:cs typeface="Aptos"/>
              </a:rPr>
              <a:t>GRUZ 200 | funeral-services</a:t>
            </a:r>
            <a:endParaRPr lang="ru-RU" sz="10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522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520000" cy="6858000"/>
          </a:xfrm>
          <a:prstGeom prst="rect">
            <a:avLst/>
          </a:prstGeom>
          <a:solidFill>
            <a:srgbClr val="C9A45C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620000" y="540000"/>
            <a:ext cx="2100000" cy="420000"/>
          </a:xfrm>
          <a:prstGeom prst="roundRect">
            <a:avLst/>
          </a:prstGeom>
          <a:solidFill>
            <a:srgbClr val="7C6A46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60000" y="650000"/>
            <a:ext cx="18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250" b="1">
                <a:solidFill>
                  <a:srgbClr val="F8FAFC"/>
                </a:solidFill>
                <a:latin typeface="Aptos"/>
                <a:cs typeface="Aptos"/>
              </a:rPr>
              <a:t>AI</a:t>
            </a:r>
            <a:endParaRPr lang="ru-RU" sz="1250"/>
          </a:p>
        </p:txBody>
      </p:sp>
      <p:sp>
        <p:nvSpPr>
          <p:cNvPr id="6" name="TextBox 6"/>
          <p:cNvSpPr txBox="1"/>
          <p:nvPr/>
        </p:nvSpPr>
        <p:spPr>
          <a:xfrm>
            <a:off x="610000" y="1200000"/>
            <a:ext cx="77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600" b="1">
                <a:solidFill>
                  <a:srgbClr val="F8FAFC"/>
                </a:solidFill>
                <a:latin typeface="Aptos"/>
                <a:cs typeface="Aptos"/>
              </a:rPr>
              <a:t>Личный помощник</a:t>
            </a:r>
            <a:endParaRPr lang="ru-RU" sz="3600"/>
          </a:p>
        </p:txBody>
      </p:sp>
      <p:sp>
        <p:nvSpPr>
          <p:cNvPr id="7" name="TextBox 7"/>
          <p:cNvSpPr txBox="1"/>
          <p:nvPr/>
        </p:nvSpPr>
        <p:spPr>
          <a:xfrm>
            <a:off x="620000" y="2050000"/>
            <a:ext cx="8300000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850" b="0">
                <a:solidFill>
                  <a:srgbClr val="CBD5E1"/>
                </a:solidFill>
                <a:latin typeface="Aptos"/>
                <a:cs typeface="Aptos"/>
              </a:rPr>
              <a:t>AI-чат помогает с вопросами по услугам, документам, стоимости и первым действиям.</a:t>
            </a:r>
            <a:endParaRPr lang="ru-RU" sz="1850"/>
          </a:p>
        </p:txBody>
      </p:sp>
      <p:sp>
        <p:nvSpPr>
          <p:cNvPr id="8" name="Shape 8"/>
          <p:cNvSpPr/>
          <p:nvPr/>
        </p:nvSpPr>
        <p:spPr>
          <a:xfrm>
            <a:off x="9300000" y="720000"/>
            <a:ext cx="2300000" cy="5140000"/>
          </a:xfrm>
          <a:prstGeom prst="roundRect">
            <a:avLst/>
          </a:prstGeom>
          <a:solidFill>
            <a:srgbClr val="172033"/>
          </a:solidFill>
          <a:ln>
            <a:solidFill>
              <a:srgbClr val="7C6A46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9680000" y="1040000"/>
            <a:ext cx="16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2100" b="1">
                <a:solidFill>
                  <a:srgbClr val="C9A45C"/>
                </a:solidFill>
                <a:latin typeface="Aptos"/>
                <a:cs typeface="Aptos"/>
              </a:rPr>
              <a:t>13 / 20</a:t>
            </a:r>
            <a:endParaRPr lang="ru-RU" sz="2100"/>
          </a:p>
        </p:txBody>
      </p:sp>
      <p:sp>
        <p:nvSpPr>
          <p:cNvPr id="10" name="Shape 10"/>
          <p:cNvSpPr/>
          <p:nvPr/>
        </p:nvSpPr>
        <p:spPr>
          <a:xfrm>
            <a:off x="9780000" y="1570000"/>
            <a:ext cx="1340000" cy="22000"/>
          </a:xfrm>
          <a:prstGeom prst="rect">
            <a:avLst/>
          </a:prstGeom>
          <a:solidFill>
            <a:srgbClr val="C9A45C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660000" y="192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9A45C"/>
                </a:solidFill>
                <a:latin typeface="Aptos"/>
                <a:cs typeface="Aptos"/>
              </a:rPr>
              <a:t>24/7</a:t>
            </a:r>
            <a:endParaRPr lang="ru-RU" sz="1750"/>
          </a:p>
        </p:txBody>
      </p:sp>
      <p:sp>
        <p:nvSpPr>
          <p:cNvPr id="21" name="TextBox 21"/>
          <p:cNvSpPr txBox="1"/>
          <p:nvPr/>
        </p:nvSpPr>
        <p:spPr>
          <a:xfrm>
            <a:off x="9660000" y="246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BD5E1"/>
                </a:solidFill>
                <a:latin typeface="Aptos"/>
                <a:cs typeface="Aptos"/>
              </a:rPr>
              <a:t>каталог</a:t>
            </a:r>
            <a:endParaRPr lang="ru-RU" sz="1750"/>
          </a:p>
        </p:txBody>
      </p:sp>
      <p:sp>
        <p:nvSpPr>
          <p:cNvPr id="22" name="TextBox 22"/>
          <p:cNvSpPr txBox="1"/>
          <p:nvPr/>
        </p:nvSpPr>
        <p:spPr>
          <a:xfrm>
            <a:off x="9660000" y="300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9A45C"/>
                </a:solidFill>
                <a:latin typeface="Aptos"/>
                <a:cs typeface="Aptos"/>
              </a:rPr>
              <a:t>корзина</a:t>
            </a:r>
            <a:endParaRPr lang="ru-RU" sz="1750"/>
          </a:p>
        </p:txBody>
      </p:sp>
      <p:sp>
        <p:nvSpPr>
          <p:cNvPr id="23" name="TextBox 23"/>
          <p:cNvSpPr txBox="1"/>
          <p:nvPr/>
        </p:nvSpPr>
        <p:spPr>
          <a:xfrm>
            <a:off x="9660000" y="354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BD5E1"/>
                </a:solidFill>
                <a:latin typeface="Aptos"/>
                <a:cs typeface="Aptos"/>
              </a:rPr>
              <a:t>AI</a:t>
            </a:r>
            <a:endParaRPr lang="ru-RU" sz="1750"/>
          </a:p>
        </p:txBody>
      </p:sp>
      <p:sp>
        <p:nvSpPr>
          <p:cNvPr id="24" name="TextBox 24"/>
          <p:cNvSpPr txBox="1"/>
          <p:nvPr/>
        </p:nvSpPr>
        <p:spPr>
          <a:xfrm>
            <a:off x="9660000" y="408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9A45C"/>
                </a:solidFill>
                <a:latin typeface="Aptos"/>
                <a:cs typeface="Aptos"/>
              </a:rPr>
              <a:t>кабинет</a:t>
            </a:r>
            <a:endParaRPr lang="ru-RU" sz="1750"/>
          </a:p>
        </p:txBody>
      </p:sp>
      <p:sp>
        <p:nvSpPr>
          <p:cNvPr id="70" name="TextBox 70"/>
          <p:cNvSpPr txBox="1"/>
          <p:nvPr/>
        </p:nvSpPr>
        <p:spPr>
          <a:xfrm>
            <a:off x="850000" y="3180000"/>
            <a:ext cx="7700000" cy="2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Интеграция с GigaChat на сервере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История сообщений передаётся в запросе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Системный промпт задаёт спокойный профессиональный тон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Помощник не шутит, не давит и предлагает связаться с оператором при необходимости</a:t>
            </a:r>
            <a:endParaRPr lang="ru-RU" sz="1780"/>
          </a:p>
        </p:txBody>
      </p:sp>
      <p:sp>
        <p:nvSpPr>
          <p:cNvPr id="90" name="TextBox 90"/>
          <p:cNvSpPr txBox="1"/>
          <p:nvPr/>
        </p:nvSpPr>
        <p:spPr>
          <a:xfrm>
            <a:off x="615000" y="6500000"/>
            <a:ext cx="500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50" b="0">
                <a:solidFill>
                  <a:srgbClr val="94A3B8"/>
                </a:solidFill>
                <a:latin typeface="Aptos"/>
                <a:cs typeface="Aptos"/>
              </a:rPr>
              <a:t>GRUZ 200 | funeral-services</a:t>
            </a:r>
            <a:endParaRPr lang="ru-RU" sz="10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522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520000" cy="6858000"/>
          </a:xfrm>
          <a:prstGeom prst="rect">
            <a:avLst/>
          </a:prstGeom>
          <a:solidFill>
            <a:srgbClr val="C9A45C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620000" y="540000"/>
            <a:ext cx="2100000" cy="420000"/>
          </a:xfrm>
          <a:prstGeom prst="roundRect">
            <a:avLst/>
          </a:prstGeom>
          <a:solidFill>
            <a:srgbClr val="7C6A46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60000" y="650000"/>
            <a:ext cx="18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250" b="1">
                <a:solidFill>
                  <a:srgbClr val="F8FAFC"/>
                </a:solidFill>
                <a:latin typeface="Aptos"/>
                <a:cs typeface="Aptos"/>
              </a:rPr>
              <a:t>BACKEND</a:t>
            </a:r>
            <a:endParaRPr lang="ru-RU" sz="1250"/>
          </a:p>
        </p:txBody>
      </p:sp>
      <p:sp>
        <p:nvSpPr>
          <p:cNvPr id="6" name="TextBox 6"/>
          <p:cNvSpPr txBox="1"/>
          <p:nvPr/>
        </p:nvSpPr>
        <p:spPr>
          <a:xfrm>
            <a:off x="610000" y="1200000"/>
            <a:ext cx="77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600" b="1">
                <a:solidFill>
                  <a:srgbClr val="F8FAFC"/>
                </a:solidFill>
                <a:latin typeface="Aptos"/>
                <a:cs typeface="Aptos"/>
              </a:rPr>
              <a:t>Серверная часть</a:t>
            </a:r>
            <a:endParaRPr lang="ru-RU" sz="3600"/>
          </a:p>
        </p:txBody>
      </p:sp>
      <p:sp>
        <p:nvSpPr>
          <p:cNvPr id="7" name="TextBox 7"/>
          <p:cNvSpPr txBox="1"/>
          <p:nvPr/>
        </p:nvSpPr>
        <p:spPr>
          <a:xfrm>
            <a:off x="620000" y="2050000"/>
            <a:ext cx="8300000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850" b="0">
                <a:solidFill>
                  <a:srgbClr val="CBD5E1"/>
                </a:solidFill>
                <a:latin typeface="Aptos"/>
                <a:cs typeface="Aptos"/>
              </a:rPr>
              <a:t>Backend реализован на NestJS и разбит на доменные модули.</a:t>
            </a:r>
            <a:endParaRPr lang="ru-RU" sz="1850"/>
          </a:p>
        </p:txBody>
      </p:sp>
      <p:sp>
        <p:nvSpPr>
          <p:cNvPr id="8" name="Shape 8"/>
          <p:cNvSpPr/>
          <p:nvPr/>
        </p:nvSpPr>
        <p:spPr>
          <a:xfrm>
            <a:off x="9300000" y="720000"/>
            <a:ext cx="2300000" cy="5140000"/>
          </a:xfrm>
          <a:prstGeom prst="roundRect">
            <a:avLst/>
          </a:prstGeom>
          <a:solidFill>
            <a:srgbClr val="172033"/>
          </a:solidFill>
          <a:ln>
            <a:solidFill>
              <a:srgbClr val="7C6A46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9680000" y="1040000"/>
            <a:ext cx="16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2100" b="1">
                <a:solidFill>
                  <a:srgbClr val="C9A45C"/>
                </a:solidFill>
                <a:latin typeface="Aptos"/>
                <a:cs typeface="Aptos"/>
              </a:rPr>
              <a:t>14 / 20</a:t>
            </a:r>
            <a:endParaRPr lang="ru-RU" sz="2100"/>
          </a:p>
        </p:txBody>
      </p:sp>
      <p:sp>
        <p:nvSpPr>
          <p:cNvPr id="10" name="Shape 10"/>
          <p:cNvSpPr/>
          <p:nvPr/>
        </p:nvSpPr>
        <p:spPr>
          <a:xfrm>
            <a:off x="9780000" y="1570000"/>
            <a:ext cx="1340000" cy="22000"/>
          </a:xfrm>
          <a:prstGeom prst="rect">
            <a:avLst/>
          </a:prstGeom>
          <a:solidFill>
            <a:srgbClr val="C9A45C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660000" y="192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9A45C"/>
                </a:solidFill>
                <a:latin typeface="Aptos"/>
                <a:cs typeface="Aptos"/>
              </a:rPr>
              <a:t>24/7</a:t>
            </a:r>
            <a:endParaRPr lang="ru-RU" sz="1750"/>
          </a:p>
        </p:txBody>
      </p:sp>
      <p:sp>
        <p:nvSpPr>
          <p:cNvPr id="21" name="TextBox 21"/>
          <p:cNvSpPr txBox="1"/>
          <p:nvPr/>
        </p:nvSpPr>
        <p:spPr>
          <a:xfrm>
            <a:off x="9660000" y="246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BD5E1"/>
                </a:solidFill>
                <a:latin typeface="Aptos"/>
                <a:cs typeface="Aptos"/>
              </a:rPr>
              <a:t>каталог</a:t>
            </a:r>
            <a:endParaRPr lang="ru-RU" sz="1750"/>
          </a:p>
        </p:txBody>
      </p:sp>
      <p:sp>
        <p:nvSpPr>
          <p:cNvPr id="22" name="TextBox 22"/>
          <p:cNvSpPr txBox="1"/>
          <p:nvPr/>
        </p:nvSpPr>
        <p:spPr>
          <a:xfrm>
            <a:off x="9660000" y="300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9A45C"/>
                </a:solidFill>
                <a:latin typeface="Aptos"/>
                <a:cs typeface="Aptos"/>
              </a:rPr>
              <a:t>корзина</a:t>
            </a:r>
            <a:endParaRPr lang="ru-RU" sz="1750"/>
          </a:p>
        </p:txBody>
      </p:sp>
      <p:sp>
        <p:nvSpPr>
          <p:cNvPr id="23" name="TextBox 23"/>
          <p:cNvSpPr txBox="1"/>
          <p:nvPr/>
        </p:nvSpPr>
        <p:spPr>
          <a:xfrm>
            <a:off x="9660000" y="354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BD5E1"/>
                </a:solidFill>
                <a:latin typeface="Aptos"/>
                <a:cs typeface="Aptos"/>
              </a:rPr>
              <a:t>AI</a:t>
            </a:r>
            <a:endParaRPr lang="ru-RU" sz="1750"/>
          </a:p>
        </p:txBody>
      </p:sp>
      <p:sp>
        <p:nvSpPr>
          <p:cNvPr id="24" name="TextBox 24"/>
          <p:cNvSpPr txBox="1"/>
          <p:nvPr/>
        </p:nvSpPr>
        <p:spPr>
          <a:xfrm>
            <a:off x="9660000" y="408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9A45C"/>
                </a:solidFill>
                <a:latin typeface="Aptos"/>
                <a:cs typeface="Aptos"/>
              </a:rPr>
              <a:t>кабинет</a:t>
            </a:r>
            <a:endParaRPr lang="ru-RU" sz="1750"/>
          </a:p>
        </p:txBody>
      </p:sp>
      <p:sp>
        <p:nvSpPr>
          <p:cNvPr id="70" name="TextBox 70"/>
          <p:cNvSpPr txBox="1"/>
          <p:nvPr/>
        </p:nvSpPr>
        <p:spPr>
          <a:xfrm>
            <a:off x="850000" y="3180000"/>
            <a:ext cx="7700000" cy="2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AuthModule и UsersModule для аккаунтов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ServicesModule, IslamicModule, ClassicServiceModule, CremationsModule для каталогов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CardModule для корзины и mock checkout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AiModule для обращения к GigaChat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ConfigModule для переменных окружения</a:t>
            </a:r>
            <a:endParaRPr lang="ru-RU" sz="1780"/>
          </a:p>
        </p:txBody>
      </p:sp>
      <p:sp>
        <p:nvSpPr>
          <p:cNvPr id="90" name="TextBox 90"/>
          <p:cNvSpPr txBox="1"/>
          <p:nvPr/>
        </p:nvSpPr>
        <p:spPr>
          <a:xfrm>
            <a:off x="615000" y="6500000"/>
            <a:ext cx="500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50" b="0">
                <a:solidFill>
                  <a:srgbClr val="94A3B8"/>
                </a:solidFill>
                <a:latin typeface="Aptos"/>
                <a:cs typeface="Aptos"/>
              </a:rPr>
              <a:t>GRUZ 200 | funeral-services</a:t>
            </a:r>
            <a:endParaRPr lang="ru-RU" sz="10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522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520000" cy="6858000"/>
          </a:xfrm>
          <a:prstGeom prst="rect">
            <a:avLst/>
          </a:prstGeom>
          <a:solidFill>
            <a:srgbClr val="C9A45C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620000" y="540000"/>
            <a:ext cx="2100000" cy="420000"/>
          </a:xfrm>
          <a:prstGeom prst="roundRect">
            <a:avLst/>
          </a:prstGeom>
          <a:solidFill>
            <a:srgbClr val="7C6A46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60000" y="650000"/>
            <a:ext cx="18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250" b="1">
                <a:solidFill>
                  <a:srgbClr val="F8FAFC"/>
                </a:solidFill>
                <a:latin typeface="Aptos"/>
                <a:cs typeface="Aptos"/>
              </a:rPr>
              <a:t>БАЗА ДАННЫХ</a:t>
            </a:r>
            <a:endParaRPr lang="ru-RU" sz="1250"/>
          </a:p>
        </p:txBody>
      </p:sp>
      <p:sp>
        <p:nvSpPr>
          <p:cNvPr id="6" name="TextBox 6"/>
          <p:cNvSpPr txBox="1"/>
          <p:nvPr/>
        </p:nvSpPr>
        <p:spPr>
          <a:xfrm>
            <a:off x="610000" y="1200000"/>
            <a:ext cx="77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600" b="1">
                <a:solidFill>
                  <a:srgbClr val="F8FAFC"/>
                </a:solidFill>
                <a:latin typeface="Aptos"/>
                <a:cs typeface="Aptos"/>
              </a:rPr>
              <a:t>Данные и модели</a:t>
            </a:r>
            <a:endParaRPr lang="ru-RU" sz="3600"/>
          </a:p>
        </p:txBody>
      </p:sp>
      <p:sp>
        <p:nvSpPr>
          <p:cNvPr id="7" name="TextBox 7"/>
          <p:cNvSpPr txBox="1"/>
          <p:nvPr/>
        </p:nvSpPr>
        <p:spPr>
          <a:xfrm>
            <a:off x="620000" y="2050000"/>
            <a:ext cx="8300000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850" b="0">
                <a:solidFill>
                  <a:srgbClr val="CBD5E1"/>
                </a:solidFill>
                <a:latin typeface="Aptos"/>
                <a:cs typeface="Aptos"/>
              </a:rPr>
              <a:t>Проект использует PostgreSQL, Sequelize и миграции.</a:t>
            </a:r>
            <a:endParaRPr lang="ru-RU" sz="1850"/>
          </a:p>
        </p:txBody>
      </p:sp>
      <p:sp>
        <p:nvSpPr>
          <p:cNvPr id="8" name="Shape 8"/>
          <p:cNvSpPr/>
          <p:nvPr/>
        </p:nvSpPr>
        <p:spPr>
          <a:xfrm>
            <a:off x="9300000" y="720000"/>
            <a:ext cx="2300000" cy="5140000"/>
          </a:xfrm>
          <a:prstGeom prst="roundRect">
            <a:avLst/>
          </a:prstGeom>
          <a:solidFill>
            <a:srgbClr val="172033"/>
          </a:solidFill>
          <a:ln>
            <a:solidFill>
              <a:srgbClr val="7C6A46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9680000" y="1040000"/>
            <a:ext cx="16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2100" b="1">
                <a:solidFill>
                  <a:srgbClr val="C9A45C"/>
                </a:solidFill>
                <a:latin typeface="Aptos"/>
                <a:cs typeface="Aptos"/>
              </a:rPr>
              <a:t>15 / 20</a:t>
            </a:r>
            <a:endParaRPr lang="ru-RU" sz="2100"/>
          </a:p>
        </p:txBody>
      </p:sp>
      <p:sp>
        <p:nvSpPr>
          <p:cNvPr id="10" name="Shape 10"/>
          <p:cNvSpPr/>
          <p:nvPr/>
        </p:nvSpPr>
        <p:spPr>
          <a:xfrm>
            <a:off x="9780000" y="1570000"/>
            <a:ext cx="1340000" cy="22000"/>
          </a:xfrm>
          <a:prstGeom prst="rect">
            <a:avLst/>
          </a:prstGeom>
          <a:solidFill>
            <a:srgbClr val="C9A45C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660000" y="192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9A45C"/>
                </a:solidFill>
                <a:latin typeface="Aptos"/>
                <a:cs typeface="Aptos"/>
              </a:rPr>
              <a:t>24/7</a:t>
            </a:r>
            <a:endParaRPr lang="ru-RU" sz="1750"/>
          </a:p>
        </p:txBody>
      </p:sp>
      <p:sp>
        <p:nvSpPr>
          <p:cNvPr id="21" name="TextBox 21"/>
          <p:cNvSpPr txBox="1"/>
          <p:nvPr/>
        </p:nvSpPr>
        <p:spPr>
          <a:xfrm>
            <a:off x="9660000" y="246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BD5E1"/>
                </a:solidFill>
                <a:latin typeface="Aptos"/>
                <a:cs typeface="Aptos"/>
              </a:rPr>
              <a:t>каталог</a:t>
            </a:r>
            <a:endParaRPr lang="ru-RU" sz="1750"/>
          </a:p>
        </p:txBody>
      </p:sp>
      <p:sp>
        <p:nvSpPr>
          <p:cNvPr id="22" name="TextBox 22"/>
          <p:cNvSpPr txBox="1"/>
          <p:nvPr/>
        </p:nvSpPr>
        <p:spPr>
          <a:xfrm>
            <a:off x="9660000" y="300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9A45C"/>
                </a:solidFill>
                <a:latin typeface="Aptos"/>
                <a:cs typeface="Aptos"/>
              </a:rPr>
              <a:t>корзина</a:t>
            </a:r>
            <a:endParaRPr lang="ru-RU" sz="1750"/>
          </a:p>
        </p:txBody>
      </p:sp>
      <p:sp>
        <p:nvSpPr>
          <p:cNvPr id="23" name="TextBox 23"/>
          <p:cNvSpPr txBox="1"/>
          <p:nvPr/>
        </p:nvSpPr>
        <p:spPr>
          <a:xfrm>
            <a:off x="9660000" y="354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BD5E1"/>
                </a:solidFill>
                <a:latin typeface="Aptos"/>
                <a:cs typeface="Aptos"/>
              </a:rPr>
              <a:t>AI</a:t>
            </a:r>
            <a:endParaRPr lang="ru-RU" sz="1750"/>
          </a:p>
        </p:txBody>
      </p:sp>
      <p:sp>
        <p:nvSpPr>
          <p:cNvPr id="24" name="TextBox 24"/>
          <p:cNvSpPr txBox="1"/>
          <p:nvPr/>
        </p:nvSpPr>
        <p:spPr>
          <a:xfrm>
            <a:off x="9660000" y="408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9A45C"/>
                </a:solidFill>
                <a:latin typeface="Aptos"/>
                <a:cs typeface="Aptos"/>
              </a:rPr>
              <a:t>кабинет</a:t>
            </a:r>
            <a:endParaRPr lang="ru-RU" sz="1750"/>
          </a:p>
        </p:txBody>
      </p:sp>
      <p:sp>
        <p:nvSpPr>
          <p:cNvPr id="70" name="TextBox 70"/>
          <p:cNvSpPr txBox="1"/>
          <p:nvPr/>
        </p:nvSpPr>
        <p:spPr>
          <a:xfrm>
            <a:off x="850000" y="3180000"/>
            <a:ext cx="7700000" cy="2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SequelizeModule подключается через env-настройки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Модели пользователей, услуг, кремации, исламских и классических услуг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Card связывает пользователя с выбранной позицией каталога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Seeders наполняют базу стартовыми данными</a:t>
            </a:r>
            <a:endParaRPr lang="ru-RU" sz="1780"/>
          </a:p>
        </p:txBody>
      </p:sp>
      <p:sp>
        <p:nvSpPr>
          <p:cNvPr id="90" name="TextBox 90"/>
          <p:cNvSpPr txBox="1"/>
          <p:nvPr/>
        </p:nvSpPr>
        <p:spPr>
          <a:xfrm>
            <a:off x="615000" y="6500000"/>
            <a:ext cx="500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50" b="0">
                <a:solidFill>
                  <a:srgbClr val="94A3B8"/>
                </a:solidFill>
                <a:latin typeface="Aptos"/>
                <a:cs typeface="Aptos"/>
              </a:rPr>
              <a:t>GRUZ 200 | funeral-services</a:t>
            </a:r>
            <a:endParaRPr lang="ru-RU" sz="10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522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520000" cy="6858000"/>
          </a:xfrm>
          <a:prstGeom prst="rect">
            <a:avLst/>
          </a:prstGeom>
          <a:solidFill>
            <a:srgbClr val="C9A45C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620000" y="540000"/>
            <a:ext cx="2100000" cy="420000"/>
          </a:xfrm>
          <a:prstGeom prst="roundRect">
            <a:avLst/>
          </a:prstGeom>
          <a:solidFill>
            <a:srgbClr val="7C6A46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60000" y="650000"/>
            <a:ext cx="18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250" b="1">
                <a:solidFill>
                  <a:srgbClr val="F8FAFC"/>
                </a:solidFill>
                <a:latin typeface="Aptos"/>
                <a:cs typeface="Aptos"/>
              </a:rPr>
              <a:t>БЕЗОПАСНОСТЬ</a:t>
            </a:r>
            <a:endParaRPr lang="ru-RU" sz="1250"/>
          </a:p>
        </p:txBody>
      </p:sp>
      <p:sp>
        <p:nvSpPr>
          <p:cNvPr id="6" name="TextBox 6"/>
          <p:cNvSpPr txBox="1"/>
          <p:nvPr/>
        </p:nvSpPr>
        <p:spPr>
          <a:xfrm>
            <a:off x="610000" y="1200000"/>
            <a:ext cx="77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600" b="1">
                <a:solidFill>
                  <a:srgbClr val="F8FAFC"/>
                </a:solidFill>
                <a:latin typeface="Aptos"/>
                <a:cs typeface="Aptos"/>
              </a:rPr>
              <a:t>Защита пользовательских сценариев</a:t>
            </a:r>
            <a:endParaRPr lang="ru-RU" sz="3600"/>
          </a:p>
        </p:txBody>
      </p:sp>
      <p:sp>
        <p:nvSpPr>
          <p:cNvPr id="7" name="TextBox 7"/>
          <p:cNvSpPr txBox="1"/>
          <p:nvPr/>
        </p:nvSpPr>
        <p:spPr>
          <a:xfrm>
            <a:off x="620000" y="2050000"/>
            <a:ext cx="8300000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850" b="0">
                <a:solidFill>
                  <a:srgbClr val="CBD5E1"/>
                </a:solidFill>
                <a:latin typeface="Aptos"/>
                <a:cs typeface="Aptos"/>
              </a:rPr>
              <a:t>В проекте есть базовая защита приватных страниц и API.</a:t>
            </a:r>
            <a:endParaRPr lang="ru-RU" sz="1850"/>
          </a:p>
        </p:txBody>
      </p:sp>
      <p:sp>
        <p:nvSpPr>
          <p:cNvPr id="8" name="Shape 8"/>
          <p:cNvSpPr/>
          <p:nvPr/>
        </p:nvSpPr>
        <p:spPr>
          <a:xfrm>
            <a:off x="9300000" y="720000"/>
            <a:ext cx="2300000" cy="5140000"/>
          </a:xfrm>
          <a:prstGeom prst="roundRect">
            <a:avLst/>
          </a:prstGeom>
          <a:solidFill>
            <a:srgbClr val="172033"/>
          </a:solidFill>
          <a:ln>
            <a:solidFill>
              <a:srgbClr val="7C6A46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9680000" y="1040000"/>
            <a:ext cx="16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2100" b="1">
                <a:solidFill>
                  <a:srgbClr val="C9A45C"/>
                </a:solidFill>
                <a:latin typeface="Aptos"/>
                <a:cs typeface="Aptos"/>
              </a:rPr>
              <a:t>16 / 20</a:t>
            </a:r>
            <a:endParaRPr lang="ru-RU" sz="2100"/>
          </a:p>
        </p:txBody>
      </p:sp>
      <p:sp>
        <p:nvSpPr>
          <p:cNvPr id="10" name="Shape 10"/>
          <p:cNvSpPr/>
          <p:nvPr/>
        </p:nvSpPr>
        <p:spPr>
          <a:xfrm>
            <a:off x="9780000" y="1570000"/>
            <a:ext cx="1340000" cy="22000"/>
          </a:xfrm>
          <a:prstGeom prst="rect">
            <a:avLst/>
          </a:prstGeom>
          <a:solidFill>
            <a:srgbClr val="C9A45C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660000" y="192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9A45C"/>
                </a:solidFill>
                <a:latin typeface="Aptos"/>
                <a:cs typeface="Aptos"/>
              </a:rPr>
              <a:t>24/7</a:t>
            </a:r>
            <a:endParaRPr lang="ru-RU" sz="1750"/>
          </a:p>
        </p:txBody>
      </p:sp>
      <p:sp>
        <p:nvSpPr>
          <p:cNvPr id="21" name="TextBox 21"/>
          <p:cNvSpPr txBox="1"/>
          <p:nvPr/>
        </p:nvSpPr>
        <p:spPr>
          <a:xfrm>
            <a:off x="9660000" y="246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BD5E1"/>
                </a:solidFill>
                <a:latin typeface="Aptos"/>
                <a:cs typeface="Aptos"/>
              </a:rPr>
              <a:t>каталог</a:t>
            </a:r>
            <a:endParaRPr lang="ru-RU" sz="1750"/>
          </a:p>
        </p:txBody>
      </p:sp>
      <p:sp>
        <p:nvSpPr>
          <p:cNvPr id="22" name="TextBox 22"/>
          <p:cNvSpPr txBox="1"/>
          <p:nvPr/>
        </p:nvSpPr>
        <p:spPr>
          <a:xfrm>
            <a:off x="9660000" y="300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9A45C"/>
                </a:solidFill>
                <a:latin typeface="Aptos"/>
                <a:cs typeface="Aptos"/>
              </a:rPr>
              <a:t>корзина</a:t>
            </a:r>
            <a:endParaRPr lang="ru-RU" sz="1750"/>
          </a:p>
        </p:txBody>
      </p:sp>
      <p:sp>
        <p:nvSpPr>
          <p:cNvPr id="23" name="TextBox 23"/>
          <p:cNvSpPr txBox="1"/>
          <p:nvPr/>
        </p:nvSpPr>
        <p:spPr>
          <a:xfrm>
            <a:off x="9660000" y="354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BD5E1"/>
                </a:solidFill>
                <a:latin typeface="Aptos"/>
                <a:cs typeface="Aptos"/>
              </a:rPr>
              <a:t>AI</a:t>
            </a:r>
            <a:endParaRPr lang="ru-RU" sz="1750"/>
          </a:p>
        </p:txBody>
      </p:sp>
      <p:sp>
        <p:nvSpPr>
          <p:cNvPr id="24" name="TextBox 24"/>
          <p:cNvSpPr txBox="1"/>
          <p:nvPr/>
        </p:nvSpPr>
        <p:spPr>
          <a:xfrm>
            <a:off x="9660000" y="408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9A45C"/>
                </a:solidFill>
                <a:latin typeface="Aptos"/>
                <a:cs typeface="Aptos"/>
              </a:rPr>
              <a:t>кабинет</a:t>
            </a:r>
            <a:endParaRPr lang="ru-RU" sz="1750"/>
          </a:p>
        </p:txBody>
      </p:sp>
      <p:sp>
        <p:nvSpPr>
          <p:cNvPr id="70" name="TextBox 70"/>
          <p:cNvSpPr txBox="1"/>
          <p:nvPr/>
        </p:nvSpPr>
        <p:spPr>
          <a:xfrm>
            <a:off x="850000" y="3180000"/>
            <a:ext cx="7700000" cy="2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Пароли хешируются через bcrypt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JWT guard защищает приватные маршруты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Refresh-токен позволяет восстанавливать сессию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Клиент перенаправляет гостя на /auth для закрытых страниц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Корзина и операции с профилем привязаны к текущему пользователю</a:t>
            </a:r>
            <a:endParaRPr lang="ru-RU" sz="1780"/>
          </a:p>
        </p:txBody>
      </p:sp>
      <p:sp>
        <p:nvSpPr>
          <p:cNvPr id="90" name="TextBox 90"/>
          <p:cNvSpPr txBox="1"/>
          <p:nvPr/>
        </p:nvSpPr>
        <p:spPr>
          <a:xfrm>
            <a:off x="615000" y="6500000"/>
            <a:ext cx="500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50" b="0">
                <a:solidFill>
                  <a:srgbClr val="94A3B8"/>
                </a:solidFill>
                <a:latin typeface="Aptos"/>
                <a:cs typeface="Aptos"/>
              </a:rPr>
              <a:t>GRUZ 200 | funeral-services</a:t>
            </a:r>
            <a:endParaRPr lang="ru-RU" sz="10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522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520000" cy="6858000"/>
          </a:xfrm>
          <a:prstGeom prst="rect">
            <a:avLst/>
          </a:prstGeom>
          <a:solidFill>
            <a:srgbClr val="C9A45C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620000" y="540000"/>
            <a:ext cx="2100000" cy="420000"/>
          </a:xfrm>
          <a:prstGeom prst="roundRect">
            <a:avLst/>
          </a:prstGeom>
          <a:solidFill>
            <a:srgbClr val="7C6A46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60000" y="650000"/>
            <a:ext cx="18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250" b="1">
                <a:solidFill>
                  <a:srgbClr val="F8FAFC"/>
                </a:solidFill>
                <a:latin typeface="Aptos"/>
                <a:cs typeface="Aptos"/>
              </a:rPr>
              <a:t>АРХИТЕКТУРА</a:t>
            </a:r>
            <a:endParaRPr lang="ru-RU" sz="1250"/>
          </a:p>
        </p:txBody>
      </p:sp>
      <p:sp>
        <p:nvSpPr>
          <p:cNvPr id="6" name="TextBox 6"/>
          <p:cNvSpPr txBox="1"/>
          <p:nvPr/>
        </p:nvSpPr>
        <p:spPr>
          <a:xfrm>
            <a:off x="610000" y="1200000"/>
            <a:ext cx="77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600" b="1">
                <a:solidFill>
                  <a:srgbClr val="F8FAFC"/>
                </a:solidFill>
                <a:latin typeface="Aptos"/>
                <a:cs typeface="Aptos"/>
              </a:rPr>
              <a:t>Как взаимодействуют части</a:t>
            </a:r>
            <a:endParaRPr lang="ru-RU" sz="3600"/>
          </a:p>
        </p:txBody>
      </p:sp>
      <p:sp>
        <p:nvSpPr>
          <p:cNvPr id="7" name="TextBox 7"/>
          <p:cNvSpPr txBox="1"/>
          <p:nvPr/>
        </p:nvSpPr>
        <p:spPr>
          <a:xfrm>
            <a:off x="620000" y="2050000"/>
            <a:ext cx="8300000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850" b="0">
                <a:solidFill>
                  <a:srgbClr val="CBD5E1"/>
                </a:solidFill>
                <a:latin typeface="Aptos"/>
                <a:cs typeface="Aptos"/>
              </a:rPr>
              <a:t>Frontend отправляет запросы через Axios, сервер обрабатывает бизнес-логику и работает с базой.</a:t>
            </a:r>
            <a:endParaRPr lang="ru-RU" sz="1850"/>
          </a:p>
        </p:txBody>
      </p:sp>
      <p:sp>
        <p:nvSpPr>
          <p:cNvPr id="8" name="Shape 8"/>
          <p:cNvSpPr/>
          <p:nvPr/>
        </p:nvSpPr>
        <p:spPr>
          <a:xfrm>
            <a:off x="9300000" y="720000"/>
            <a:ext cx="2300000" cy="5140000"/>
          </a:xfrm>
          <a:prstGeom prst="roundRect">
            <a:avLst/>
          </a:prstGeom>
          <a:solidFill>
            <a:srgbClr val="172033"/>
          </a:solidFill>
          <a:ln>
            <a:solidFill>
              <a:srgbClr val="7C6A46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9680000" y="1040000"/>
            <a:ext cx="16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2100" b="1">
                <a:solidFill>
                  <a:srgbClr val="C9A45C"/>
                </a:solidFill>
                <a:latin typeface="Aptos"/>
                <a:cs typeface="Aptos"/>
              </a:rPr>
              <a:t>17 / 20</a:t>
            </a:r>
            <a:endParaRPr lang="ru-RU" sz="2100"/>
          </a:p>
        </p:txBody>
      </p:sp>
      <p:sp>
        <p:nvSpPr>
          <p:cNvPr id="10" name="Shape 10"/>
          <p:cNvSpPr/>
          <p:nvPr/>
        </p:nvSpPr>
        <p:spPr>
          <a:xfrm>
            <a:off x="9780000" y="1570000"/>
            <a:ext cx="1340000" cy="22000"/>
          </a:xfrm>
          <a:prstGeom prst="rect">
            <a:avLst/>
          </a:prstGeom>
          <a:solidFill>
            <a:srgbClr val="C9A45C"/>
          </a:solidFill>
          <a:ln>
            <a:noFill/>
          </a:ln>
        </p:spPr>
      </p:sp>
      <p:sp>
        <p:nvSpPr>
          <p:cNvPr id="20" name="Shape 20"/>
          <p:cNvSpPr/>
          <p:nvPr/>
        </p:nvSpPr>
        <p:spPr>
          <a:xfrm>
            <a:off x="9550000" y="1930000"/>
            <a:ext cx="1800000" cy="48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9760000" y="2055000"/>
            <a:ext cx="138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280" b="0">
                <a:solidFill>
                  <a:srgbClr val="F8FAFC"/>
                </a:solidFill>
                <a:latin typeface="Aptos"/>
                <a:cs typeface="Aptos"/>
              </a:rPr>
              <a:t>Next.js UI отображает страницы и формы</a:t>
            </a:r>
            <a:endParaRPr lang="ru-RU" sz="1280"/>
          </a:p>
        </p:txBody>
      </p:sp>
      <p:sp>
        <p:nvSpPr>
          <p:cNvPr id="21" name="Shape 21"/>
          <p:cNvSpPr/>
          <p:nvPr/>
        </p:nvSpPr>
        <p:spPr>
          <a:xfrm>
            <a:off x="9550000" y="2600000"/>
            <a:ext cx="1800000" cy="48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9760000" y="2725000"/>
            <a:ext cx="138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280" b="0">
                <a:solidFill>
                  <a:srgbClr val="F8FAFC"/>
                </a:solidFill>
                <a:latin typeface="Aptos"/>
                <a:cs typeface="Aptos"/>
              </a:rPr>
              <a:t>Redux Toolkit хранит пользователя, каталоги и корзину</a:t>
            </a:r>
            <a:endParaRPr lang="ru-RU" sz="1280"/>
          </a:p>
        </p:txBody>
      </p:sp>
      <p:sp>
        <p:nvSpPr>
          <p:cNvPr id="22" name="Shape 22"/>
          <p:cNvSpPr/>
          <p:nvPr/>
        </p:nvSpPr>
        <p:spPr>
          <a:xfrm>
            <a:off x="9550000" y="3270000"/>
            <a:ext cx="1800000" cy="48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9760000" y="3395000"/>
            <a:ext cx="138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280" b="0">
                <a:solidFill>
                  <a:srgbClr val="F8FAFC"/>
                </a:solidFill>
                <a:latin typeface="Aptos"/>
                <a:cs typeface="Aptos"/>
              </a:rPr>
              <a:t>NestJS API валидирует запросы и возвращает данные</a:t>
            </a:r>
            <a:endParaRPr lang="ru-RU" sz="1280"/>
          </a:p>
        </p:txBody>
      </p:sp>
      <p:sp>
        <p:nvSpPr>
          <p:cNvPr id="23" name="Shape 23"/>
          <p:cNvSpPr/>
          <p:nvPr/>
        </p:nvSpPr>
        <p:spPr>
          <a:xfrm>
            <a:off x="9550000" y="3940000"/>
            <a:ext cx="1800000" cy="48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9760000" y="4065000"/>
            <a:ext cx="138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280" b="0">
                <a:solidFill>
                  <a:srgbClr val="F8FAFC"/>
                </a:solidFill>
                <a:latin typeface="Aptos"/>
                <a:cs typeface="Aptos"/>
              </a:rPr>
              <a:t>PostgreSQL хранит пользователей, товары, услуги и корзины</a:t>
            </a:r>
            <a:endParaRPr lang="ru-RU" sz="1280"/>
          </a:p>
        </p:txBody>
      </p:sp>
      <p:sp>
        <p:nvSpPr>
          <p:cNvPr id="24" name="Shape 24"/>
          <p:cNvSpPr/>
          <p:nvPr/>
        </p:nvSpPr>
        <p:spPr>
          <a:xfrm>
            <a:off x="9550000" y="4610000"/>
            <a:ext cx="1800000" cy="48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9760000" y="4735000"/>
            <a:ext cx="138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280" b="0">
                <a:solidFill>
                  <a:srgbClr val="F8FAFC"/>
                </a:solidFill>
                <a:latin typeface="Aptos"/>
                <a:cs typeface="Aptos"/>
              </a:rPr>
              <a:t>GigaChat подключается только через backend</a:t>
            </a:r>
            <a:endParaRPr lang="ru-RU" sz="1280"/>
          </a:p>
        </p:txBody>
      </p:sp>
      <p:sp>
        <p:nvSpPr>
          <p:cNvPr id="70" name="TextBox 70"/>
          <p:cNvSpPr txBox="1"/>
          <p:nvPr/>
        </p:nvSpPr>
        <p:spPr>
          <a:xfrm>
            <a:off x="850000" y="3180000"/>
            <a:ext cx="7700000" cy="2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Next.js UI отображает страницы и формы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Redux Toolkit хранит пользователя, каталоги и корзину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NestJS API валидирует запросы и возвращает данные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PostgreSQL хранит пользователей, товары, услуги и корзины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GigaChat подключается только через backend</a:t>
            </a:r>
            <a:endParaRPr lang="ru-RU" sz="1780"/>
          </a:p>
        </p:txBody>
      </p:sp>
      <p:sp>
        <p:nvSpPr>
          <p:cNvPr id="90" name="TextBox 90"/>
          <p:cNvSpPr txBox="1"/>
          <p:nvPr/>
        </p:nvSpPr>
        <p:spPr>
          <a:xfrm>
            <a:off x="615000" y="6500000"/>
            <a:ext cx="500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50" b="0">
                <a:solidFill>
                  <a:srgbClr val="94A3B8"/>
                </a:solidFill>
                <a:latin typeface="Aptos"/>
                <a:cs typeface="Aptos"/>
              </a:rPr>
              <a:t>GRUZ 200 | funeral-services</a:t>
            </a:r>
            <a:endParaRPr lang="ru-RU" sz="105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522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520000" cy="6858000"/>
          </a:xfrm>
          <a:prstGeom prst="rect">
            <a:avLst/>
          </a:prstGeom>
          <a:solidFill>
            <a:srgbClr val="C9A45C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620000" y="540000"/>
            <a:ext cx="2100000" cy="420000"/>
          </a:xfrm>
          <a:prstGeom prst="roundRect">
            <a:avLst/>
          </a:prstGeom>
          <a:solidFill>
            <a:srgbClr val="7C6A46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60000" y="650000"/>
            <a:ext cx="18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250" b="1">
                <a:solidFill>
                  <a:srgbClr val="F8FAFC"/>
                </a:solidFill>
                <a:latin typeface="Aptos"/>
                <a:cs typeface="Aptos"/>
              </a:rPr>
              <a:t>СТЕК</a:t>
            </a:r>
            <a:endParaRPr lang="ru-RU" sz="1250"/>
          </a:p>
        </p:txBody>
      </p:sp>
      <p:sp>
        <p:nvSpPr>
          <p:cNvPr id="6" name="TextBox 6"/>
          <p:cNvSpPr txBox="1"/>
          <p:nvPr/>
        </p:nvSpPr>
        <p:spPr>
          <a:xfrm>
            <a:off x="610000" y="1200000"/>
            <a:ext cx="77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600" b="1">
                <a:solidFill>
                  <a:srgbClr val="F8FAFC"/>
                </a:solidFill>
                <a:latin typeface="Aptos"/>
                <a:cs typeface="Aptos"/>
              </a:rPr>
              <a:t>Технологический стек</a:t>
            </a:r>
            <a:endParaRPr lang="ru-RU" sz="3600"/>
          </a:p>
        </p:txBody>
      </p:sp>
      <p:sp>
        <p:nvSpPr>
          <p:cNvPr id="7" name="TextBox 7"/>
          <p:cNvSpPr txBox="1"/>
          <p:nvPr/>
        </p:nvSpPr>
        <p:spPr>
          <a:xfrm>
            <a:off x="620000" y="2050000"/>
            <a:ext cx="8300000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850" b="0">
                <a:solidFill>
                  <a:srgbClr val="CBD5E1"/>
                </a:solidFill>
                <a:latin typeface="Aptos"/>
                <a:cs typeface="Aptos"/>
              </a:rPr>
              <a:t>Проект демонстрирует fullstack-подход на современном TypeScript-стеке.</a:t>
            </a:r>
            <a:endParaRPr lang="ru-RU" sz="1850"/>
          </a:p>
        </p:txBody>
      </p:sp>
      <p:sp>
        <p:nvSpPr>
          <p:cNvPr id="8" name="Shape 8"/>
          <p:cNvSpPr/>
          <p:nvPr/>
        </p:nvSpPr>
        <p:spPr>
          <a:xfrm>
            <a:off x="9300000" y="720000"/>
            <a:ext cx="2300000" cy="5140000"/>
          </a:xfrm>
          <a:prstGeom prst="roundRect">
            <a:avLst/>
          </a:prstGeom>
          <a:solidFill>
            <a:srgbClr val="172033"/>
          </a:solidFill>
          <a:ln>
            <a:solidFill>
              <a:srgbClr val="7C6A46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9680000" y="1040000"/>
            <a:ext cx="16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2100" b="1">
                <a:solidFill>
                  <a:srgbClr val="C9A45C"/>
                </a:solidFill>
                <a:latin typeface="Aptos"/>
                <a:cs typeface="Aptos"/>
              </a:rPr>
              <a:t>18 / 20</a:t>
            </a:r>
            <a:endParaRPr lang="ru-RU" sz="2100"/>
          </a:p>
        </p:txBody>
      </p:sp>
      <p:sp>
        <p:nvSpPr>
          <p:cNvPr id="10" name="Shape 10"/>
          <p:cNvSpPr/>
          <p:nvPr/>
        </p:nvSpPr>
        <p:spPr>
          <a:xfrm>
            <a:off x="9780000" y="1570000"/>
            <a:ext cx="1340000" cy="22000"/>
          </a:xfrm>
          <a:prstGeom prst="rect">
            <a:avLst/>
          </a:prstGeom>
          <a:solidFill>
            <a:srgbClr val="C9A45C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660000" y="192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9A45C"/>
                </a:solidFill>
                <a:latin typeface="Aptos"/>
                <a:cs typeface="Aptos"/>
              </a:rPr>
              <a:t>24/7</a:t>
            </a:r>
            <a:endParaRPr lang="ru-RU" sz="1750"/>
          </a:p>
        </p:txBody>
      </p:sp>
      <p:sp>
        <p:nvSpPr>
          <p:cNvPr id="21" name="TextBox 21"/>
          <p:cNvSpPr txBox="1"/>
          <p:nvPr/>
        </p:nvSpPr>
        <p:spPr>
          <a:xfrm>
            <a:off x="9660000" y="246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BD5E1"/>
                </a:solidFill>
                <a:latin typeface="Aptos"/>
                <a:cs typeface="Aptos"/>
              </a:rPr>
              <a:t>каталог</a:t>
            </a:r>
            <a:endParaRPr lang="ru-RU" sz="1750"/>
          </a:p>
        </p:txBody>
      </p:sp>
      <p:sp>
        <p:nvSpPr>
          <p:cNvPr id="22" name="TextBox 22"/>
          <p:cNvSpPr txBox="1"/>
          <p:nvPr/>
        </p:nvSpPr>
        <p:spPr>
          <a:xfrm>
            <a:off x="9660000" y="300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9A45C"/>
                </a:solidFill>
                <a:latin typeface="Aptos"/>
                <a:cs typeface="Aptos"/>
              </a:rPr>
              <a:t>корзина</a:t>
            </a:r>
            <a:endParaRPr lang="ru-RU" sz="1750"/>
          </a:p>
        </p:txBody>
      </p:sp>
      <p:sp>
        <p:nvSpPr>
          <p:cNvPr id="23" name="TextBox 23"/>
          <p:cNvSpPr txBox="1"/>
          <p:nvPr/>
        </p:nvSpPr>
        <p:spPr>
          <a:xfrm>
            <a:off x="9660000" y="354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BD5E1"/>
                </a:solidFill>
                <a:latin typeface="Aptos"/>
                <a:cs typeface="Aptos"/>
              </a:rPr>
              <a:t>AI</a:t>
            </a:r>
            <a:endParaRPr lang="ru-RU" sz="1750"/>
          </a:p>
        </p:txBody>
      </p:sp>
      <p:sp>
        <p:nvSpPr>
          <p:cNvPr id="24" name="TextBox 24"/>
          <p:cNvSpPr txBox="1"/>
          <p:nvPr/>
        </p:nvSpPr>
        <p:spPr>
          <a:xfrm>
            <a:off x="9660000" y="408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9A45C"/>
                </a:solidFill>
                <a:latin typeface="Aptos"/>
                <a:cs typeface="Aptos"/>
              </a:rPr>
              <a:t>кабинет</a:t>
            </a:r>
            <a:endParaRPr lang="ru-RU" sz="1750"/>
          </a:p>
        </p:txBody>
      </p:sp>
      <p:sp>
        <p:nvSpPr>
          <p:cNvPr id="70" name="TextBox 70"/>
          <p:cNvSpPr txBox="1"/>
          <p:nvPr/>
        </p:nvSpPr>
        <p:spPr>
          <a:xfrm>
            <a:off x="850000" y="3180000"/>
            <a:ext cx="7700000" cy="2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Frontend: Next.js, React, TypeScript, Redux Toolkit, Axios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Backend: NestJS, TypeScript, Sequelize, PostgreSQL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Auth: JWT, Passport, bcrypt, cookies/refresh flow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AI: GigaChat SDK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Инструменты: ESLint, Jest, Sequelize CLI</a:t>
            </a:r>
            <a:endParaRPr lang="ru-RU" sz="1780"/>
          </a:p>
        </p:txBody>
      </p:sp>
      <p:sp>
        <p:nvSpPr>
          <p:cNvPr id="90" name="TextBox 90"/>
          <p:cNvSpPr txBox="1"/>
          <p:nvPr/>
        </p:nvSpPr>
        <p:spPr>
          <a:xfrm>
            <a:off x="615000" y="6500000"/>
            <a:ext cx="500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50" b="0">
                <a:solidFill>
                  <a:srgbClr val="94A3B8"/>
                </a:solidFill>
                <a:latin typeface="Aptos"/>
                <a:cs typeface="Aptos"/>
              </a:rPr>
              <a:t>GRUZ 200 | funeral-services</a:t>
            </a:r>
            <a:endParaRPr lang="ru-RU" sz="105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522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520000" cy="6858000"/>
          </a:xfrm>
          <a:prstGeom prst="rect">
            <a:avLst/>
          </a:prstGeom>
          <a:solidFill>
            <a:srgbClr val="C9A45C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620000" y="540000"/>
            <a:ext cx="2100000" cy="420000"/>
          </a:xfrm>
          <a:prstGeom prst="roundRect">
            <a:avLst/>
          </a:prstGeom>
          <a:solidFill>
            <a:srgbClr val="7C6A46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60000" y="650000"/>
            <a:ext cx="18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250" b="1">
                <a:solidFill>
                  <a:srgbClr val="F8FAFC"/>
                </a:solidFill>
                <a:latin typeface="Aptos"/>
                <a:cs typeface="Aptos"/>
              </a:rPr>
              <a:t>ИТОГ</a:t>
            </a:r>
            <a:endParaRPr lang="ru-RU" sz="1250"/>
          </a:p>
        </p:txBody>
      </p:sp>
      <p:sp>
        <p:nvSpPr>
          <p:cNvPr id="6" name="TextBox 6"/>
          <p:cNvSpPr txBox="1"/>
          <p:nvPr/>
        </p:nvSpPr>
        <p:spPr>
          <a:xfrm>
            <a:off x="610000" y="1200000"/>
            <a:ext cx="77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600" b="1">
                <a:solidFill>
                  <a:srgbClr val="F8FAFC"/>
                </a:solidFill>
                <a:latin typeface="Aptos"/>
                <a:cs typeface="Aptos"/>
              </a:rPr>
              <a:t>Что получилось</a:t>
            </a:r>
            <a:endParaRPr lang="ru-RU" sz="3600"/>
          </a:p>
        </p:txBody>
      </p:sp>
      <p:sp>
        <p:nvSpPr>
          <p:cNvPr id="7" name="TextBox 7"/>
          <p:cNvSpPr txBox="1"/>
          <p:nvPr/>
        </p:nvSpPr>
        <p:spPr>
          <a:xfrm>
            <a:off x="620000" y="2050000"/>
            <a:ext cx="8300000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850" b="0">
                <a:solidFill>
                  <a:srgbClr val="CBD5E1"/>
                </a:solidFill>
                <a:latin typeface="Aptos"/>
                <a:cs typeface="Aptos"/>
              </a:rPr>
              <a:t>Готовый fullstack-сервис с каталогом, заказом, кабинетом и AI-поддержкой.</a:t>
            </a:r>
            <a:endParaRPr lang="ru-RU" sz="1850"/>
          </a:p>
        </p:txBody>
      </p:sp>
      <p:sp>
        <p:nvSpPr>
          <p:cNvPr id="8" name="Shape 8"/>
          <p:cNvSpPr/>
          <p:nvPr/>
        </p:nvSpPr>
        <p:spPr>
          <a:xfrm>
            <a:off x="9300000" y="720000"/>
            <a:ext cx="2300000" cy="5140000"/>
          </a:xfrm>
          <a:prstGeom prst="roundRect">
            <a:avLst/>
          </a:prstGeom>
          <a:solidFill>
            <a:srgbClr val="172033"/>
          </a:solidFill>
          <a:ln>
            <a:solidFill>
              <a:srgbClr val="7C6A46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9680000" y="1040000"/>
            <a:ext cx="16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2100" b="1">
                <a:solidFill>
                  <a:srgbClr val="C9A45C"/>
                </a:solidFill>
                <a:latin typeface="Aptos"/>
                <a:cs typeface="Aptos"/>
              </a:rPr>
              <a:t>19 / 20</a:t>
            </a:r>
            <a:endParaRPr lang="ru-RU" sz="2100"/>
          </a:p>
        </p:txBody>
      </p:sp>
      <p:sp>
        <p:nvSpPr>
          <p:cNvPr id="10" name="Shape 10"/>
          <p:cNvSpPr/>
          <p:nvPr/>
        </p:nvSpPr>
        <p:spPr>
          <a:xfrm>
            <a:off x="9780000" y="1570000"/>
            <a:ext cx="1340000" cy="22000"/>
          </a:xfrm>
          <a:prstGeom prst="rect">
            <a:avLst/>
          </a:prstGeom>
          <a:solidFill>
            <a:srgbClr val="C9A45C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660000" y="192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9A45C"/>
                </a:solidFill>
                <a:latin typeface="Aptos"/>
                <a:cs typeface="Aptos"/>
              </a:rPr>
              <a:t>24/7</a:t>
            </a:r>
            <a:endParaRPr lang="ru-RU" sz="1750"/>
          </a:p>
        </p:txBody>
      </p:sp>
      <p:sp>
        <p:nvSpPr>
          <p:cNvPr id="21" name="TextBox 21"/>
          <p:cNvSpPr txBox="1"/>
          <p:nvPr/>
        </p:nvSpPr>
        <p:spPr>
          <a:xfrm>
            <a:off x="9660000" y="246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BD5E1"/>
                </a:solidFill>
                <a:latin typeface="Aptos"/>
                <a:cs typeface="Aptos"/>
              </a:rPr>
              <a:t>каталог</a:t>
            </a:r>
            <a:endParaRPr lang="ru-RU" sz="1750"/>
          </a:p>
        </p:txBody>
      </p:sp>
      <p:sp>
        <p:nvSpPr>
          <p:cNvPr id="22" name="TextBox 22"/>
          <p:cNvSpPr txBox="1"/>
          <p:nvPr/>
        </p:nvSpPr>
        <p:spPr>
          <a:xfrm>
            <a:off x="9660000" y="300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9A45C"/>
                </a:solidFill>
                <a:latin typeface="Aptos"/>
                <a:cs typeface="Aptos"/>
              </a:rPr>
              <a:t>корзина</a:t>
            </a:r>
            <a:endParaRPr lang="ru-RU" sz="1750"/>
          </a:p>
        </p:txBody>
      </p:sp>
      <p:sp>
        <p:nvSpPr>
          <p:cNvPr id="23" name="TextBox 23"/>
          <p:cNvSpPr txBox="1"/>
          <p:nvPr/>
        </p:nvSpPr>
        <p:spPr>
          <a:xfrm>
            <a:off x="9660000" y="354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BD5E1"/>
                </a:solidFill>
                <a:latin typeface="Aptos"/>
                <a:cs typeface="Aptos"/>
              </a:rPr>
              <a:t>AI</a:t>
            </a:r>
            <a:endParaRPr lang="ru-RU" sz="1750"/>
          </a:p>
        </p:txBody>
      </p:sp>
      <p:sp>
        <p:nvSpPr>
          <p:cNvPr id="24" name="TextBox 24"/>
          <p:cNvSpPr txBox="1"/>
          <p:nvPr/>
        </p:nvSpPr>
        <p:spPr>
          <a:xfrm>
            <a:off x="9660000" y="408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9A45C"/>
                </a:solidFill>
                <a:latin typeface="Aptos"/>
                <a:cs typeface="Aptos"/>
              </a:rPr>
              <a:t>кабинет</a:t>
            </a:r>
            <a:endParaRPr lang="ru-RU" sz="1750"/>
          </a:p>
        </p:txBody>
      </p:sp>
      <p:sp>
        <p:nvSpPr>
          <p:cNvPr id="70" name="TextBox 70"/>
          <p:cNvSpPr txBox="1"/>
          <p:nvPr/>
        </p:nvSpPr>
        <p:spPr>
          <a:xfrm>
            <a:off x="850000" y="3180000"/>
            <a:ext cx="7700000" cy="2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Пользователь может зарегистрироваться, выбрать услугу и оформить заказ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Сервис покрывает несколько реальных направлений ритуальных услуг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Архитектура разделена на клиент, сервер и базу данных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AI-помощник добавляет консультационный сценарий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Проект можно развивать в сторону реальных платежей и CRM</a:t>
            </a:r>
            <a:endParaRPr lang="ru-RU" sz="1780"/>
          </a:p>
        </p:txBody>
      </p:sp>
      <p:sp>
        <p:nvSpPr>
          <p:cNvPr id="90" name="TextBox 90"/>
          <p:cNvSpPr txBox="1"/>
          <p:nvPr/>
        </p:nvSpPr>
        <p:spPr>
          <a:xfrm>
            <a:off x="615000" y="6500000"/>
            <a:ext cx="500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50" b="0">
                <a:solidFill>
                  <a:srgbClr val="94A3B8"/>
                </a:solidFill>
                <a:latin typeface="Aptos"/>
                <a:cs typeface="Aptos"/>
              </a:rPr>
              <a:t>GRUZ 200 | funeral-services</a:t>
            </a:r>
            <a:endParaRPr lang="ru-RU" sz="105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522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520000" cy="6858000"/>
          </a:xfrm>
          <a:prstGeom prst="rect">
            <a:avLst/>
          </a:prstGeom>
          <a:solidFill>
            <a:srgbClr val="C9A45C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620000" y="540000"/>
            <a:ext cx="2100000" cy="420000"/>
          </a:xfrm>
          <a:prstGeom prst="roundRect">
            <a:avLst/>
          </a:prstGeom>
          <a:solidFill>
            <a:srgbClr val="7C6A46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60000" y="650000"/>
            <a:ext cx="18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250" b="1">
                <a:solidFill>
                  <a:srgbClr val="F8FAFC"/>
                </a:solidFill>
                <a:latin typeface="Aptos"/>
                <a:cs typeface="Aptos"/>
              </a:rPr>
              <a:t>РАЗВИТИЕ</a:t>
            </a:r>
            <a:endParaRPr lang="ru-RU" sz="1250"/>
          </a:p>
        </p:txBody>
      </p:sp>
      <p:sp>
        <p:nvSpPr>
          <p:cNvPr id="6" name="TextBox 6"/>
          <p:cNvSpPr txBox="1"/>
          <p:nvPr/>
        </p:nvSpPr>
        <p:spPr>
          <a:xfrm>
            <a:off x="610000" y="1200000"/>
            <a:ext cx="77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600" b="1">
                <a:solidFill>
                  <a:srgbClr val="F8FAFC"/>
                </a:solidFill>
                <a:latin typeface="Aptos"/>
                <a:cs typeface="Aptos"/>
              </a:rPr>
              <a:t>Что можно улучшить дальше</a:t>
            </a:r>
            <a:endParaRPr lang="ru-RU" sz="3600"/>
          </a:p>
        </p:txBody>
      </p:sp>
      <p:sp>
        <p:nvSpPr>
          <p:cNvPr id="7" name="TextBox 7"/>
          <p:cNvSpPr txBox="1"/>
          <p:nvPr/>
        </p:nvSpPr>
        <p:spPr>
          <a:xfrm>
            <a:off x="620000" y="2050000"/>
            <a:ext cx="8300000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850" b="0">
                <a:solidFill>
                  <a:srgbClr val="CBD5E1"/>
                </a:solidFill>
                <a:latin typeface="Aptos"/>
                <a:cs typeface="Aptos"/>
              </a:rPr>
              <a:t>Следующие шаги помогут превратить учебный проект в ближе к продакшену сервис.</a:t>
            </a:r>
            <a:endParaRPr lang="ru-RU" sz="1850"/>
          </a:p>
        </p:txBody>
      </p:sp>
      <p:sp>
        <p:nvSpPr>
          <p:cNvPr id="8" name="Shape 8"/>
          <p:cNvSpPr/>
          <p:nvPr/>
        </p:nvSpPr>
        <p:spPr>
          <a:xfrm>
            <a:off x="9300000" y="720000"/>
            <a:ext cx="2300000" cy="5140000"/>
          </a:xfrm>
          <a:prstGeom prst="roundRect">
            <a:avLst/>
          </a:prstGeom>
          <a:solidFill>
            <a:srgbClr val="172033"/>
          </a:solidFill>
          <a:ln>
            <a:solidFill>
              <a:srgbClr val="7C6A46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9680000" y="1040000"/>
            <a:ext cx="16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2100" b="1">
                <a:solidFill>
                  <a:srgbClr val="C9A45C"/>
                </a:solidFill>
                <a:latin typeface="Aptos"/>
                <a:cs typeface="Aptos"/>
              </a:rPr>
              <a:t>20 / 20</a:t>
            </a:r>
            <a:endParaRPr lang="ru-RU" sz="2100"/>
          </a:p>
        </p:txBody>
      </p:sp>
      <p:sp>
        <p:nvSpPr>
          <p:cNvPr id="10" name="Shape 10"/>
          <p:cNvSpPr/>
          <p:nvPr/>
        </p:nvSpPr>
        <p:spPr>
          <a:xfrm>
            <a:off x="9780000" y="1570000"/>
            <a:ext cx="1340000" cy="22000"/>
          </a:xfrm>
          <a:prstGeom prst="rect">
            <a:avLst/>
          </a:prstGeom>
          <a:solidFill>
            <a:srgbClr val="C9A45C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660000" y="192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9A45C"/>
                </a:solidFill>
                <a:latin typeface="Aptos"/>
                <a:cs typeface="Aptos"/>
              </a:rPr>
              <a:t>24/7</a:t>
            </a:r>
            <a:endParaRPr lang="ru-RU" sz="1750"/>
          </a:p>
        </p:txBody>
      </p:sp>
      <p:sp>
        <p:nvSpPr>
          <p:cNvPr id="21" name="TextBox 21"/>
          <p:cNvSpPr txBox="1"/>
          <p:nvPr/>
        </p:nvSpPr>
        <p:spPr>
          <a:xfrm>
            <a:off x="9660000" y="246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BD5E1"/>
                </a:solidFill>
                <a:latin typeface="Aptos"/>
                <a:cs typeface="Aptos"/>
              </a:rPr>
              <a:t>каталог</a:t>
            </a:r>
            <a:endParaRPr lang="ru-RU" sz="1750"/>
          </a:p>
        </p:txBody>
      </p:sp>
      <p:sp>
        <p:nvSpPr>
          <p:cNvPr id="22" name="TextBox 22"/>
          <p:cNvSpPr txBox="1"/>
          <p:nvPr/>
        </p:nvSpPr>
        <p:spPr>
          <a:xfrm>
            <a:off x="9660000" y="300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9A45C"/>
                </a:solidFill>
                <a:latin typeface="Aptos"/>
                <a:cs typeface="Aptos"/>
              </a:rPr>
              <a:t>корзина</a:t>
            </a:r>
            <a:endParaRPr lang="ru-RU" sz="1750"/>
          </a:p>
        </p:txBody>
      </p:sp>
      <p:sp>
        <p:nvSpPr>
          <p:cNvPr id="23" name="TextBox 23"/>
          <p:cNvSpPr txBox="1"/>
          <p:nvPr/>
        </p:nvSpPr>
        <p:spPr>
          <a:xfrm>
            <a:off x="9660000" y="354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BD5E1"/>
                </a:solidFill>
                <a:latin typeface="Aptos"/>
                <a:cs typeface="Aptos"/>
              </a:rPr>
              <a:t>AI</a:t>
            </a:r>
            <a:endParaRPr lang="ru-RU" sz="1750"/>
          </a:p>
        </p:txBody>
      </p:sp>
      <p:sp>
        <p:nvSpPr>
          <p:cNvPr id="24" name="TextBox 24"/>
          <p:cNvSpPr txBox="1"/>
          <p:nvPr/>
        </p:nvSpPr>
        <p:spPr>
          <a:xfrm>
            <a:off x="9660000" y="408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750" b="1">
                <a:solidFill>
                  <a:srgbClr val="C9A45C"/>
                </a:solidFill>
                <a:latin typeface="Aptos"/>
                <a:cs typeface="Aptos"/>
              </a:rPr>
              <a:t>кабинет</a:t>
            </a:r>
            <a:endParaRPr lang="ru-RU" sz="1750"/>
          </a:p>
        </p:txBody>
      </p:sp>
      <p:sp>
        <p:nvSpPr>
          <p:cNvPr id="70" name="TextBox 70"/>
          <p:cNvSpPr txBox="1"/>
          <p:nvPr/>
        </p:nvSpPr>
        <p:spPr>
          <a:xfrm>
            <a:off x="850000" y="3180000"/>
            <a:ext cx="7700000" cy="2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Подключить реальный платёжный провайдер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Добавить админ-панель для управления услугами и заказами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Сделать историю заказов в личном кабинете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Добавить уведомления оператору и пользователю</a:t>
            </a:r>
            <a:endParaRPr lang="ru-RU" sz="1780"/>
          </a:p>
          <a:p>
            <a:pPr algn="l"/>
            <a:r>
              <a:rPr lang="ru-RU" sz="1780" b="0">
                <a:solidFill>
                  <a:srgbClr val="F8FAFC"/>
                </a:solidFill>
                <a:latin typeface="Aptos"/>
                <a:cs typeface="Aptos"/>
              </a:rPr>
              <a:t>• Расширить тесты и обработку ошибок</a:t>
            </a:r>
            <a:endParaRPr lang="ru-RU" sz="1780"/>
          </a:p>
        </p:txBody>
      </p:sp>
      <p:sp>
        <p:nvSpPr>
          <p:cNvPr id="80" name="Shape 80"/>
          <p:cNvSpPr/>
          <p:nvPr/>
        </p:nvSpPr>
        <p:spPr>
          <a:xfrm>
            <a:off x="760000" y="5890000"/>
            <a:ext cx="3500000" cy="450000"/>
          </a:xfrm>
          <a:prstGeom prst="roundRect">
            <a:avLst/>
          </a:prstGeom>
          <a:solidFill>
            <a:srgbClr val="C9A45C"/>
          </a:solidFill>
          <a:ln>
            <a:noFill/>
          </a:ln>
        </p:spPr>
      </p:sp>
      <p:sp>
        <p:nvSpPr>
          <p:cNvPr id="81" name="TextBox 81"/>
          <p:cNvSpPr txBox="1"/>
          <p:nvPr/>
        </p:nvSpPr>
        <p:spPr>
          <a:xfrm>
            <a:off x="950000" y="6010000"/>
            <a:ext cx="312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ru-RU" sz="1500" b="1">
                <a:solidFill>
                  <a:srgbClr val="0B1120"/>
                </a:solidFill>
                <a:latin typeface="Aptos"/>
                <a:cs typeface="Aptos"/>
              </a:rPr>
              <a:t>Спасибо за внимание</a:t>
            </a:r>
            <a:endParaRPr lang="ru-RU" sz="1500"/>
          </a:p>
        </p:txBody>
      </p:sp>
      <p:sp>
        <p:nvSpPr>
          <p:cNvPr id="90" name="TextBox 90"/>
          <p:cNvSpPr txBox="1"/>
          <p:nvPr/>
        </p:nvSpPr>
        <p:spPr>
          <a:xfrm>
            <a:off x="615000" y="6500000"/>
            <a:ext cx="500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50" b="0">
                <a:solidFill>
                  <a:srgbClr val="94A3B8"/>
                </a:solidFill>
                <a:latin typeface="Aptos"/>
                <a:cs typeface="Aptos"/>
              </a:rPr>
              <a:t>GRUZ 200 | funeral-services</a:t>
            </a:r>
            <a:endParaRPr lang="ru-RU" sz="10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UZ 200 Theme">
  <a:themeElements>
    <a:clrScheme name="GRUZ 200">
      <a:dk1>
        <a:srgbClr val="0B1120"/>
      </a:dk1>
      <a:lt1>
        <a:srgbClr val="FFFFFF"/>
      </a:lt1>
      <a:dk2>
        <a:srgbClr val="1F2937"/>
      </a:dk2>
      <a:lt2>
        <a:srgbClr val="E5E7EB"/>
      </a:lt2>
      <a:accent1>
        <a:srgbClr val="C9A45C"/>
      </a:accent1>
      <a:accent2>
        <a:srgbClr val="64748B"/>
      </a:accent2>
      <a:accent3>
        <a:srgbClr val="334155"/>
      </a:accent3>
      <a:accent4>
        <a:srgbClr val="94A3B8"/>
      </a:accent4>
      <a:accent5>
        <a:srgbClr val="475569"/>
      </a:accent5>
      <a:accent6>
        <a:srgbClr val="F8FAFC"/>
      </a:accent6>
      <a:hlink>
        <a:srgbClr val="2563EB"/>
      </a:hlink>
      <a:folHlink>
        <a:srgbClr val="7C3AED"/>
      </a:folHlink>
    </a:clrScheme>
    <a:fontScheme name="Aptos">
      <a:majorFont>
        <a:latin typeface="Aptos Display"/>
        <a:cs typeface="Aptos"/>
      </a:majorFont>
      <a:minorFont>
        <a:latin typeface="Aptos"/>
        <a:cs typeface="Aptos"/>
      </a:minorFont>
    </a:fontScheme>
    <a:fmtScheme name="GRUZ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Cursor</Application>
  <PresentationFormat>Widescreen</PresentationFormat>
  <Slides>20</Slides>
  <Company/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GRUZ 200 project presentation</dc:title>
  <dc:subject>funeral-services</dc:subject>
  <dc:creator>Cursor Agent</dc:creator>
  <cp:lastModifiedBy>Cursor Agent</cp:lastModifiedBy>
  <dcterms:created xsi:type="dcterms:W3CDTF">2026-05-18T07:35:51Z</dcterms:created>
  <dcterms:modified xsi:type="dcterms:W3CDTF">2026-05-18T07:35:51Z</dcterms:modified>
</cp:coreProperties>
</file>